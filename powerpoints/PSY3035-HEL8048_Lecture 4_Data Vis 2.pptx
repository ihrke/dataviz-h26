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8" r:id="rId2"/>
    <p:sldId id="403" r:id="rId3"/>
    <p:sldId id="336" r:id="rId4"/>
    <p:sldId id="404" r:id="rId5"/>
    <p:sldId id="368" r:id="rId6"/>
    <p:sldId id="373" r:id="rId7"/>
    <p:sldId id="375" r:id="rId8"/>
    <p:sldId id="374" r:id="rId9"/>
    <p:sldId id="376" r:id="rId10"/>
    <p:sldId id="377" r:id="rId11"/>
    <p:sldId id="378" r:id="rId12"/>
    <p:sldId id="379" r:id="rId13"/>
    <p:sldId id="381" r:id="rId14"/>
    <p:sldId id="405" r:id="rId15"/>
    <p:sldId id="380" r:id="rId16"/>
    <p:sldId id="395" r:id="rId17"/>
    <p:sldId id="369" r:id="rId18"/>
    <p:sldId id="372" r:id="rId19"/>
    <p:sldId id="383" r:id="rId20"/>
    <p:sldId id="384" r:id="rId21"/>
    <p:sldId id="396" r:id="rId22"/>
    <p:sldId id="385" r:id="rId23"/>
    <p:sldId id="386" r:id="rId24"/>
    <p:sldId id="387" r:id="rId25"/>
    <p:sldId id="397" r:id="rId26"/>
    <p:sldId id="388" r:id="rId27"/>
    <p:sldId id="390" r:id="rId28"/>
    <p:sldId id="398" r:id="rId29"/>
    <p:sldId id="391" r:id="rId30"/>
    <p:sldId id="392" r:id="rId31"/>
    <p:sldId id="399" r:id="rId32"/>
    <p:sldId id="393" r:id="rId33"/>
    <p:sldId id="394" r:id="rId34"/>
    <p:sldId id="370" r:id="rId35"/>
    <p:sldId id="371" r:id="rId36"/>
    <p:sldId id="401" r:id="rId37"/>
    <p:sldId id="400" r:id="rId38"/>
    <p:sldId id="406" r:id="rId39"/>
    <p:sldId id="402" r:id="rId40"/>
    <p:sldId id="281" r:id="rId41"/>
    <p:sldId id="283" r:id="rId42"/>
    <p:sldId id="284" r:id="rId43"/>
    <p:sldId id="40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7A0C99-C7A8-43BE-AF7C-65B20D693F8C}" v="2" dt="2026-10-12T09:17:45.2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4393" autoAdjust="0"/>
  </p:normalViewPr>
  <p:slideViewPr>
    <p:cSldViewPr snapToGrid="0">
      <p:cViewPr varScale="1">
        <p:scale>
          <a:sx n="73" d="100"/>
          <a:sy n="73" d="100"/>
        </p:scale>
        <p:origin x="17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Edgar McCutcheon" userId="7f873ef2-5165-4f07-9a0f-a18721295519" providerId="ADAL" clId="{042E2793-3DC5-4CE9-BA91-01603716AA59}"/>
    <pc:docChg chg="custSel addSld delSld modSld">
      <pc:chgData name="James Edgar McCutcheon" userId="7f873ef2-5165-4f07-9a0f-a18721295519" providerId="ADAL" clId="{042E2793-3DC5-4CE9-BA91-01603716AA59}" dt="2026-10-12T09:21:53.791" v="310" actId="1076"/>
      <pc:docMkLst>
        <pc:docMk/>
      </pc:docMkLst>
      <pc:sldChg chg="delSp add setBg delDesignElem">
        <pc:chgData name="James Edgar McCutcheon" userId="7f873ef2-5165-4f07-9a0f-a18721295519" providerId="ADAL" clId="{042E2793-3DC5-4CE9-BA91-01603716AA59}" dt="2026-10-12T09:17:45.270" v="13"/>
        <pc:sldMkLst>
          <pc:docMk/>
          <pc:sldMk cId="1323329611" sldId="283"/>
        </pc:sldMkLst>
        <pc:cxnChg chg="del">
          <ac:chgData name="James Edgar McCutcheon" userId="7f873ef2-5165-4f07-9a0f-a18721295519" providerId="ADAL" clId="{042E2793-3DC5-4CE9-BA91-01603716AA59}" dt="2026-10-12T09:17:45.270" v="13"/>
          <ac:cxnSpMkLst>
            <pc:docMk/>
            <pc:sldMk cId="1323329611" sldId="283"/>
            <ac:cxnSpMk id="16" creationId="{E4A809D5-3600-46D4-A466-67F2349A54FB}"/>
          </ac:cxnSpMkLst>
        </pc:cxnChg>
      </pc:sldChg>
      <pc:sldChg chg="add">
        <pc:chgData name="James Edgar McCutcheon" userId="7f873ef2-5165-4f07-9a0f-a18721295519" providerId="ADAL" clId="{042E2793-3DC5-4CE9-BA91-01603716AA59}" dt="2026-10-12T09:17:45.270" v="13"/>
        <pc:sldMkLst>
          <pc:docMk/>
          <pc:sldMk cId="2773090376" sldId="284"/>
        </pc:sldMkLst>
      </pc:sldChg>
      <pc:sldChg chg="addSp modSp mod modAnim">
        <pc:chgData name="James Edgar McCutcheon" userId="7f873ef2-5165-4f07-9a0f-a18721295519" providerId="ADAL" clId="{042E2793-3DC5-4CE9-BA91-01603716AA59}" dt="2026-10-12T08:47:20.770" v="11"/>
        <pc:sldMkLst>
          <pc:docMk/>
          <pc:sldMk cId="4072568333" sldId="404"/>
        </pc:sldMkLst>
        <pc:picChg chg="add mod">
          <ac:chgData name="James Edgar McCutcheon" userId="7f873ef2-5165-4f07-9a0f-a18721295519" providerId="ADAL" clId="{042E2793-3DC5-4CE9-BA91-01603716AA59}" dt="2026-10-12T08:47:14.313" v="10" actId="14100"/>
          <ac:picMkLst>
            <pc:docMk/>
            <pc:sldMk cId="4072568333" sldId="404"/>
            <ac:picMk id="4" creationId="{D16B660C-1F4E-0BB6-F049-6378DD243AF6}"/>
          </ac:picMkLst>
        </pc:picChg>
      </pc:sldChg>
      <pc:sldChg chg="modSp new del mod">
        <pc:chgData name="James Edgar McCutcheon" userId="7f873ef2-5165-4f07-9a0f-a18721295519" providerId="ADAL" clId="{042E2793-3DC5-4CE9-BA91-01603716AA59}" dt="2026-10-12T08:44:45.957" v="6" actId="47"/>
        <pc:sldMkLst>
          <pc:docMk/>
          <pc:sldMk cId="834641370" sldId="407"/>
        </pc:sldMkLst>
        <pc:spChg chg="mod">
          <ac:chgData name="James Edgar McCutcheon" userId="7f873ef2-5165-4f07-9a0f-a18721295519" providerId="ADAL" clId="{042E2793-3DC5-4CE9-BA91-01603716AA59}" dt="2026-10-12T08:44:43.112" v="5" actId="20577"/>
          <ac:spMkLst>
            <pc:docMk/>
            <pc:sldMk cId="834641370" sldId="407"/>
            <ac:spMk id="2" creationId="{480F3E67-8DFA-ECB2-1193-71B2B9D6930D}"/>
          </ac:spMkLst>
        </pc:spChg>
      </pc:sldChg>
      <pc:sldChg chg="addSp modSp new mod">
        <pc:chgData name="James Edgar McCutcheon" userId="7f873ef2-5165-4f07-9a0f-a18721295519" providerId="ADAL" clId="{042E2793-3DC5-4CE9-BA91-01603716AA59}" dt="2026-10-12T09:21:53.791" v="310" actId="1076"/>
        <pc:sldMkLst>
          <pc:docMk/>
          <pc:sldMk cId="893165923" sldId="407"/>
        </pc:sldMkLst>
        <pc:spChg chg="mod">
          <ac:chgData name="James Edgar McCutcheon" userId="7f873ef2-5165-4f07-9a0f-a18721295519" providerId="ADAL" clId="{042E2793-3DC5-4CE9-BA91-01603716AA59}" dt="2026-10-12T09:18:14.123" v="22" actId="20577"/>
          <ac:spMkLst>
            <pc:docMk/>
            <pc:sldMk cId="893165923" sldId="407"/>
            <ac:spMk id="2" creationId="{741EBCED-BD05-35C4-E2B6-F29138B52F0D}"/>
          </ac:spMkLst>
        </pc:spChg>
        <pc:graphicFrameChg chg="add mod modGraphic">
          <ac:chgData name="James Edgar McCutcheon" userId="7f873ef2-5165-4f07-9a0f-a18721295519" providerId="ADAL" clId="{042E2793-3DC5-4CE9-BA91-01603716AA59}" dt="2026-10-12T09:21:53.791" v="310" actId="1076"/>
          <ac:graphicFrameMkLst>
            <pc:docMk/>
            <pc:sldMk cId="893165923" sldId="407"/>
            <ac:graphicFrameMk id="3" creationId="{0468BBB5-33EA-4B62-CA7F-913A32157AD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DEBCC-DADE-4D5B-807B-1024A7C7612A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EAC28-5BE4-48BA-84FA-699EE6699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241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AAD82-D7E8-A45D-0CF8-15ADACEC2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82A59-4DA0-1050-0074-6EB1180ED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20EF2-398A-3CE0-79DC-388A0285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5C8BC-276B-51DF-EB60-E8DC73E3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1FED7-9749-FE0B-2CBB-EBD8F1A8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8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5290-FD21-D99B-8FE2-316A3A3B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D1B58-8D60-9E8E-BA61-39200FCD8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36AB-FF36-6C2D-C0BE-AA5E862DF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CCB8F-1863-DD6E-255D-D67AADE8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46C91-CF55-D6F4-26FA-D287D3DA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06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8F722-6A23-F6AB-07BB-53E993B9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9F66F-8870-7512-6660-16CF9520C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D039B-AC6F-FD23-9FC3-D164F8CE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41944-9128-7C51-90E2-B2D681C3A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4076C-E335-A21B-8891-455046F0C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343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5C99-C112-B335-3465-434FE778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1DBD8-18B3-9BD3-68C7-4D3D1AD03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2CF5F-2255-6376-7068-3E47E2C5D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82C8D-0C04-DF58-83F5-61A08D99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07E76-234A-A413-963C-E2BD968D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B562C-D1DE-DA77-E329-3F8F31F42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22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7689-F5BE-C060-AED9-53C0AB42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F4071-CE58-A9A8-C51A-389FEE8B1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C5E5-EB89-AFE5-6D3B-31FE53A1E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90D6D-D7D5-BED4-05EF-221F3B498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54D61-BCBC-CFC4-2444-8BC7FD224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8CD938-4A96-21BA-5E9F-A64F95772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EFED9C-575F-AF5A-1931-77AB57EC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12203B-34EA-8D91-566B-CB816EFA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993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1D34-F161-1346-28D7-F38504C6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D7C51-1225-5521-EC27-D6FE394A6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5CD71-9BC2-E71E-C9F6-E2B5F59B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EE2BA-3AC5-6EBD-DB78-AFBE98FE9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962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4297C3-5E98-D8A0-7F9A-91EE9942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4BD4D-1B9C-1FFD-46E0-150AD196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3BE82-C4D5-D05F-3541-0301D6A76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17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839E-AFFB-ADA7-1FF7-5F0838E1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2902E-7517-3153-F1D3-652EB9AD6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63D3E-C154-D735-4C66-96712EECA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3ABF3-DEEC-5B45-AB57-1D2FF2D8C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AE7FB-2181-D9B8-CD6B-62080193F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48E27-C906-A6CB-C594-55FF70ABB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5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6F25-9AD6-FAB9-6A27-4F9B887FE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0C378-4ADE-67E0-0C21-FD0A8C2E4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77F1A-A2F3-DA17-3BC7-6EAD31800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754EC-A523-61E8-84FC-D429B0B41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91981-0728-DFAB-5460-762D61CD0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2E4F5-B3F7-B0BA-2537-04E116F3C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40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C1B1-3363-B008-45CA-B8ADF4A94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63C55-0F70-8DE7-3753-294CCF55D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EF07C-71F2-804F-F459-8C10C37AB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6DC93-F1EB-474F-5CBD-83B8220E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2727A-0AAE-0C01-D1A8-FC24FD69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0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81A65-2BBB-8015-92A7-87A75616F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4EDDF-6374-80ED-522D-AFCD62C0A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E6C85-00FC-819C-659C-E0CD4107C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8C564-E108-6F46-3D77-9BA012A2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C9C55-7388-5872-FFB2-B5E8B336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457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3EABC2-38AB-6ECC-ADD1-82228778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5823F-4351-7751-DD19-3352CF420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24A1D-69F3-E0C6-AA10-168937415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5EDE4-3F96-4F90-8284-A84A4A01A4EA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2280B-0FAB-80C6-38C7-19E34E2F2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F4C67-0ACA-E9D6-EA32-02E3E799E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20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swilke.com/dataviz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api/_as_gen/matplotlib.pyplot.bar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tplotlib.org/stable/api/_as_gen/matplotlib.pyplot.barh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5BB05982-3E35-1738-8F45-22D2B850B6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71" r="9089" b="1570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CB861-1161-A2B4-7F33-CE37DE120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951976" cy="3204134"/>
          </a:xfrm>
        </p:spPr>
        <p:txBody>
          <a:bodyPr anchor="b">
            <a:normAutofit fontScale="90000"/>
          </a:bodyPr>
          <a:lstStyle/>
          <a:p>
            <a:pPr algn="l">
              <a:lnSpc>
                <a:spcPct val="120000"/>
              </a:lnSpc>
            </a:pPr>
            <a:r>
              <a:rPr lang="nb-NO" sz="3600">
                <a:latin typeface="Gameplay" panose="00000400000000000000" pitchFamily="2" charset="0"/>
                <a:cs typeface="Courier New" panose="02070309020205020404" pitchFamily="49" charset="0"/>
              </a:rPr>
              <a:t>Programming and Data Visualization for Researchers</a:t>
            </a:r>
            <a:br>
              <a:rPr lang="nb-NO" sz="3600">
                <a:latin typeface="Gameplay" panose="00000400000000000000" pitchFamily="2" charset="0"/>
                <a:cs typeface="Courier New" panose="02070309020205020404" pitchFamily="49" charset="0"/>
              </a:rPr>
            </a:br>
            <a:r>
              <a:rPr lang="nb-NO" sz="3600">
                <a:latin typeface="Gameplay" panose="00000400000000000000" pitchFamily="2" charset="0"/>
                <a:cs typeface="Courier New" panose="02070309020205020404" pitchFamily="49" charset="0"/>
              </a:rPr>
              <a:t>for PSY3035 &amp; HEL8048</a:t>
            </a:r>
            <a:endParaRPr lang="en-GB" sz="3600">
              <a:latin typeface="Gameplay" panose="00000400000000000000" pitchFamily="2" charset="0"/>
              <a:cs typeface="Courier New" panose="020703090202050204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B11E9-5C2F-87E3-6436-5CF526B6A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85000" lnSpcReduction="10000"/>
          </a:bodyPr>
          <a:lstStyle/>
          <a:p>
            <a:pPr algn="l">
              <a:lnSpc>
                <a:spcPct val="120000"/>
              </a:lnSpc>
            </a:pPr>
            <a:r>
              <a:rPr lang="nb-NO" sz="2800" b="1">
                <a:latin typeface="Gameplay" panose="00000400000000000000" pitchFamily="2" charset="0"/>
              </a:rPr>
              <a:t>James McCutcheon</a:t>
            </a:r>
          </a:p>
          <a:p>
            <a:pPr algn="l"/>
            <a:r>
              <a:rPr lang="nb-NO" sz="2800" b="1">
                <a:latin typeface="Gameplay" panose="00000400000000000000" pitchFamily="2" charset="0"/>
              </a:rPr>
              <a:t>IPS / Helsefak</a:t>
            </a:r>
            <a:endParaRPr lang="en-GB" sz="2800" b="1">
              <a:latin typeface="Gameplay" panose="00000400000000000000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6271E35-F436-B2E8-3B03-F51D03E799FA}"/>
              </a:ext>
            </a:extLst>
          </p:cNvPr>
          <p:cNvSpPr txBox="1">
            <a:spLocks/>
          </p:cNvSpPr>
          <p:nvPr/>
        </p:nvSpPr>
        <p:spPr>
          <a:xfrm>
            <a:off x="6455228" y="696768"/>
            <a:ext cx="2777838" cy="591706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b-NO" sz="2800" b="1">
                <a:solidFill>
                  <a:schemeClr val="bg1"/>
                </a:solidFill>
                <a:latin typeface="Gameplay" panose="00000400000000000000" pitchFamily="2" charset="0"/>
              </a:rPr>
              <a:t>Workshop 9</a:t>
            </a:r>
            <a:endParaRPr lang="en-GB" sz="2800" b="1">
              <a:solidFill>
                <a:schemeClr val="bg1"/>
              </a:solidFill>
              <a:latin typeface="Gameplay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111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about data visualisation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2"/>
            <a:ext cx="10515600" cy="34457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The content of this short lecture is based extensively on </a:t>
            </a:r>
            <a:r>
              <a:rPr lang="en-US" i="1">
                <a:cs typeface="Courier New" panose="02070309020205020404" pitchFamily="49" charset="0"/>
              </a:rPr>
              <a:t>Fundamentals of Data Visualization</a:t>
            </a:r>
            <a:r>
              <a:rPr lang="en-US">
                <a:cs typeface="Courier New" panose="02070309020205020404" pitchFamily="49" charset="0"/>
              </a:rPr>
              <a:t> by Claus O Wilke, which is freely available online</a:t>
            </a:r>
          </a:p>
          <a:p>
            <a:pPr lvl="1"/>
            <a:r>
              <a:rPr lang="en-US">
                <a:cs typeface="Courier New" panose="02070309020205020404" pitchFamily="49" charset="0"/>
                <a:hlinkClick r:id="rId2"/>
              </a:rPr>
              <a:t>https://clauswilke.com/dataviz/</a:t>
            </a:r>
            <a:endParaRPr lang="en-US">
              <a:cs typeface="Courier New" panose="02070309020205020404" pitchFamily="49" charset="0"/>
            </a:endParaRP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I strongly recommend that everybody takes the time to read through the whole book. It is well-written, beautifully presented and not too long.</a:t>
            </a:r>
          </a:p>
        </p:txBody>
      </p:sp>
    </p:spTree>
    <p:extLst>
      <p:ext uri="{BB962C8B-B14F-4D97-AF65-F5344CB8AC3E}">
        <p14:creationId xmlns:p14="http://schemas.microsoft.com/office/powerpoint/2010/main" val="1083211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Directory of Visualizations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2"/>
            <a:ext cx="10515600" cy="41672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Amounts</a:t>
            </a:r>
          </a:p>
          <a:p>
            <a:r>
              <a:rPr lang="en-US">
                <a:cs typeface="Courier New" panose="02070309020205020404" pitchFamily="49" charset="0"/>
              </a:rPr>
              <a:t>Distributions</a:t>
            </a:r>
          </a:p>
          <a:p>
            <a:r>
              <a:rPr lang="en-US">
                <a:cs typeface="Courier New" panose="02070309020205020404" pitchFamily="49" charset="0"/>
              </a:rPr>
              <a:t>Proportions</a:t>
            </a:r>
          </a:p>
          <a:p>
            <a:r>
              <a:rPr lang="en-US">
                <a:cs typeface="Courier New" panose="02070309020205020404" pitchFamily="49" charset="0"/>
              </a:rPr>
              <a:t>x-y relationships</a:t>
            </a:r>
          </a:p>
          <a:p>
            <a:r>
              <a:rPr lang="en-US">
                <a:cs typeface="Courier New" panose="02070309020205020404" pitchFamily="49" charset="0"/>
              </a:rPr>
              <a:t>Geospatial data</a:t>
            </a:r>
          </a:p>
          <a:p>
            <a:r>
              <a:rPr lang="en-US">
                <a:cs typeface="Courier New" panose="02070309020205020404" pitchFamily="49" charset="0"/>
              </a:rPr>
              <a:t>Uncertainty</a:t>
            </a:r>
          </a:p>
        </p:txBody>
      </p:sp>
    </p:spTree>
    <p:extLst>
      <p:ext uri="{BB962C8B-B14F-4D97-AF65-F5344CB8AC3E}">
        <p14:creationId xmlns:p14="http://schemas.microsoft.com/office/powerpoint/2010/main" val="1737266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Directory of Visualizations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2"/>
            <a:ext cx="10515600" cy="41672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cs typeface="Courier New" panose="02070309020205020404" pitchFamily="49" charset="0"/>
              </a:rPr>
              <a:t>Amounts</a:t>
            </a:r>
          </a:p>
          <a:p>
            <a:r>
              <a:rPr lang="en-US" b="1">
                <a:cs typeface="Courier New" panose="02070309020205020404" pitchFamily="49" charset="0"/>
              </a:rPr>
              <a:t>Distributions</a:t>
            </a:r>
          </a:p>
          <a:p>
            <a:r>
              <a:rPr lang="en-US">
                <a:cs typeface="Courier New" panose="02070309020205020404" pitchFamily="49" charset="0"/>
              </a:rPr>
              <a:t>Proportions</a:t>
            </a:r>
          </a:p>
          <a:p>
            <a:r>
              <a:rPr lang="en-US">
                <a:cs typeface="Courier New" panose="02070309020205020404" pitchFamily="49" charset="0"/>
              </a:rPr>
              <a:t>x-y relationships</a:t>
            </a:r>
          </a:p>
          <a:p>
            <a:r>
              <a:rPr lang="en-US">
                <a:cs typeface="Courier New" panose="02070309020205020404" pitchFamily="49" charset="0"/>
              </a:rPr>
              <a:t>Geospatial data</a:t>
            </a:r>
          </a:p>
          <a:p>
            <a:r>
              <a:rPr lang="en-US" b="1">
                <a:cs typeface="Courier New" panose="02070309020205020404" pitchFamily="49" charset="0"/>
              </a:rPr>
              <a:t>Uncertainty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6B660C-1F4E-0BB6-F049-6378DD243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651" y="1396093"/>
            <a:ext cx="7528777" cy="494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56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Amounts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EC687B-1105-3D70-FE61-99DC0CB4D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846740" cy="1615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CFD3D7-2DCE-0387-4C35-4F63DB95C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06268"/>
            <a:ext cx="6485182" cy="32387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0E30DAF-2C97-1D90-D6F8-DCCD61B12551}"/>
              </a:ext>
            </a:extLst>
          </p:cNvPr>
          <p:cNvSpPr/>
          <p:nvPr/>
        </p:nvSpPr>
        <p:spPr>
          <a:xfrm>
            <a:off x="838200" y="1690688"/>
            <a:ext cx="3287751" cy="161558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5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Amounts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4B3E54-241C-1B84-A4D1-266724BAA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25" y="2023230"/>
            <a:ext cx="11647175" cy="331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32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 charts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EC9E1F-DFA4-E4A8-07B9-668D5D2B0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03" y="1807370"/>
            <a:ext cx="7087214" cy="342167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C53311-C9FE-2A97-5E94-824FD261B568}"/>
              </a:ext>
            </a:extLst>
          </p:cNvPr>
          <p:cNvSpPr txBox="1">
            <a:spLocks/>
          </p:cNvSpPr>
          <p:nvPr/>
        </p:nvSpPr>
        <p:spPr>
          <a:xfrm>
            <a:off x="7624331" y="2811108"/>
            <a:ext cx="4369419" cy="951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Labels are a little cramped and difficult to read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09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 charts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96FDEA-5914-339F-8502-2B5403778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87" y="1684238"/>
            <a:ext cx="5845047" cy="480863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3C206-5F15-5C0C-C5E5-DA73A7336C52}"/>
              </a:ext>
            </a:extLst>
          </p:cNvPr>
          <p:cNvSpPr txBox="1">
            <a:spLocks/>
          </p:cNvSpPr>
          <p:nvPr/>
        </p:nvSpPr>
        <p:spPr>
          <a:xfrm>
            <a:off x="7300946" y="2562383"/>
            <a:ext cx="4369419" cy="17332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/>
              <a:t>Rotated labels don’t make it that much better – space not used very efficiently and</a:t>
            </a:r>
            <a:r>
              <a:rPr lang="en-GB"/>
              <a:t> still a little difficult to read</a:t>
            </a:r>
            <a:endParaRPr lang="nb-NO"/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399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 charts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08FE2D-67F3-F7D3-E372-DB4F9D0E4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06" y="1779635"/>
            <a:ext cx="6367410" cy="39613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B06D11-DB0E-C640-ED21-9A01252C9872}"/>
              </a:ext>
            </a:extLst>
          </p:cNvPr>
          <p:cNvSpPr txBox="1"/>
          <p:nvPr/>
        </p:nvSpPr>
        <p:spPr>
          <a:xfrm>
            <a:off x="4973316" y="6031211"/>
            <a:ext cx="7000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hlinkClick r:id="rId3"/>
              </a:rPr>
              <a:t>https://matplotlib.org/stable/api/_as_gen/matplotlib.pyplot.bar.html</a:t>
            </a:r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706A0-1CA8-A2E5-EBC1-F07CFBB078C9}"/>
              </a:ext>
            </a:extLst>
          </p:cNvPr>
          <p:cNvSpPr txBox="1"/>
          <p:nvPr/>
        </p:nvSpPr>
        <p:spPr>
          <a:xfrm>
            <a:off x="4973316" y="6321415"/>
            <a:ext cx="7000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hlinkClick r:id="rId4"/>
              </a:rPr>
              <a:t>https://matplotlib.org/stable/api/_as_gen/matplotlib.pyplot.barh.html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9F1A8-8E88-115B-AF0B-BA0CA1937F8A}"/>
              </a:ext>
            </a:extLst>
          </p:cNvPr>
          <p:cNvSpPr txBox="1">
            <a:spLocks/>
          </p:cNvSpPr>
          <p:nvPr/>
        </p:nvSpPr>
        <p:spPr>
          <a:xfrm>
            <a:off x="7336446" y="2854528"/>
            <a:ext cx="4369419" cy="17332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/>
              <a:t>Horizontal bar chart is, in this case, given the number of bars and labels a lot clearer and more aesthetically pleasing</a:t>
            </a:r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448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Amounts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EC687B-1105-3D70-FE61-99DC0CB4D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846740" cy="1615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CFD3D7-2DCE-0387-4C35-4F63DB95C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06268"/>
            <a:ext cx="6485182" cy="32387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0E30DAF-2C97-1D90-D6F8-DCCD61B12551}"/>
              </a:ext>
            </a:extLst>
          </p:cNvPr>
          <p:cNvSpPr/>
          <p:nvPr/>
        </p:nvSpPr>
        <p:spPr>
          <a:xfrm>
            <a:off x="4070192" y="1690688"/>
            <a:ext cx="1650380" cy="161558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96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principle of proportional ink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5E4A7-F173-B59C-ED67-DD2005207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61" y="2000437"/>
            <a:ext cx="10279718" cy="10856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2286E6-E501-8B4A-E44E-B93A6659E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642" y="5966615"/>
            <a:ext cx="5151566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69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principle of proportional ink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470332-CD61-B3BF-33D1-D064B53E9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829" y="1804810"/>
            <a:ext cx="6469941" cy="40770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0CF07A-4DAF-6233-5F16-65381642D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642" y="5966615"/>
            <a:ext cx="5151566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649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85AF8F-B30B-BA5B-F73A-DC986CA79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651" y="220702"/>
            <a:ext cx="6896698" cy="641659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D71809-9184-222C-45C2-B40EC29F3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186781" y="3623465"/>
            <a:ext cx="5151566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367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principle of proportional ink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5E4A7-F173-B59C-ED67-DD2005207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61" y="2000437"/>
            <a:ext cx="10279718" cy="10856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2286E6-E501-8B4A-E44E-B93A6659E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642" y="5966615"/>
            <a:ext cx="5151566" cy="70110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E1F594-1B09-F7F5-9627-204E4341F1F9}"/>
              </a:ext>
            </a:extLst>
          </p:cNvPr>
          <p:cNvSpPr txBox="1">
            <a:spLocks/>
          </p:cNvSpPr>
          <p:nvPr/>
        </p:nvSpPr>
        <p:spPr>
          <a:xfrm>
            <a:off x="938561" y="3809983"/>
            <a:ext cx="9945029" cy="19621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The consequence of this principle is that the axis on a bar chart should extend to zero…</a:t>
            </a:r>
          </a:p>
          <a:p>
            <a:r>
              <a:rPr lang="en-US">
                <a:cs typeface="Courier New" panose="02070309020205020404" pitchFamily="49" charset="0"/>
              </a:rPr>
              <a:t>…but on a dot plot or line chart it is acceptable to change the axis to display the data better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29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Dot plots</a:t>
            </a:r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597611-3883-0DEB-3F78-89916C66C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277" y="1405815"/>
            <a:ext cx="6430272" cy="50870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8C2775-4037-A04B-98FE-7DF185846D1E}"/>
              </a:ext>
            </a:extLst>
          </p:cNvPr>
          <p:cNvSpPr/>
          <p:nvPr/>
        </p:nvSpPr>
        <p:spPr>
          <a:xfrm>
            <a:off x="4807744" y="1690688"/>
            <a:ext cx="2828925" cy="43743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08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Dot plots</a:t>
            </a:r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F53569-9FEB-1DCF-13DA-4824EC45A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556" y="1453446"/>
            <a:ext cx="6573167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04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Distributions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2A1EA1-878A-FEC5-07C8-EDA5FAC35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3481"/>
            <a:ext cx="6515665" cy="1615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10EAC6-BAD5-094D-D5F6-E049DD420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99061"/>
            <a:ext cx="6477561" cy="32692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9994B6-F749-A5F3-400A-DCABEDB1DA72}"/>
              </a:ext>
            </a:extLst>
          </p:cNvPr>
          <p:cNvSpPr/>
          <p:nvPr/>
        </p:nvSpPr>
        <p:spPr>
          <a:xfrm>
            <a:off x="838200" y="1482503"/>
            <a:ext cx="1650380" cy="161558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90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Histograms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EA30F-A46D-DBB4-8DAD-3F19C077D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582" y="3178395"/>
            <a:ext cx="7735380" cy="2257740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280DDA1-FD52-32C2-8D80-518B7391E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338106"/>
              </p:ext>
            </p:extLst>
          </p:nvPr>
        </p:nvGraphicFramePr>
        <p:xfrm>
          <a:off x="989012" y="1578611"/>
          <a:ext cx="2797176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588">
                  <a:extLst>
                    <a:ext uri="{9D8B030D-6E8A-4147-A177-3AD203B41FA5}">
                      <a16:colId xmlns:a16="http://schemas.microsoft.com/office/drawing/2014/main" val="3228160203"/>
                    </a:ext>
                  </a:extLst>
                </a:gridCol>
                <a:gridCol w="1398588">
                  <a:extLst>
                    <a:ext uri="{9D8B030D-6E8A-4147-A177-3AD203B41FA5}">
                      <a16:colId xmlns:a16="http://schemas.microsoft.com/office/drawing/2014/main" val="2410267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Passenger #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Age (years)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735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1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34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874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2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67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303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3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51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086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4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22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94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5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3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53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6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35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23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7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32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00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8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11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59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9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27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886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….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98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/>
                        <a:t>756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24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01904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216BBEF-614D-AD62-5BD1-0029599F8927}"/>
              </a:ext>
            </a:extLst>
          </p:cNvPr>
          <p:cNvSpPr txBox="1"/>
          <p:nvPr/>
        </p:nvSpPr>
        <p:spPr>
          <a:xfrm>
            <a:off x="4471989" y="1750219"/>
            <a:ext cx="5086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/>
              <a:t>To visualize a distribution, we can </a:t>
            </a:r>
            <a:r>
              <a:rPr lang="nb-NO" b="1"/>
              <a:t>bin</a:t>
            </a:r>
            <a:r>
              <a:rPr lang="nb-NO"/>
              <a:t> the data and plot the </a:t>
            </a:r>
            <a:r>
              <a:rPr lang="nb-NO" b="1"/>
              <a:t>count</a:t>
            </a:r>
            <a:r>
              <a:rPr lang="nb-NO"/>
              <a:t> (aka frequency) within each bin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40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Histograms</a:t>
            </a: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7494B5-19FF-1E81-DEB4-1B510F03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618" y="2025191"/>
            <a:ext cx="6277851" cy="345805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514BD7-1C37-AAB3-221E-35F27442EB18}"/>
              </a:ext>
            </a:extLst>
          </p:cNvPr>
          <p:cNvSpPr txBox="1">
            <a:spLocks/>
          </p:cNvSpPr>
          <p:nvPr/>
        </p:nvSpPr>
        <p:spPr>
          <a:xfrm>
            <a:off x="271461" y="2825531"/>
            <a:ext cx="4036218" cy="17290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/>
              <a:t>The appearance of a histogram is critically dependent on </a:t>
            </a:r>
            <a:r>
              <a:rPr lang="nb-NO" b="1"/>
              <a:t>bin width </a:t>
            </a:r>
            <a:r>
              <a:rPr lang="nb-NO"/>
              <a:t>chosen…</a:t>
            </a:r>
            <a:endParaRPr lang="en-GB"/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76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Histograms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C7F5F-1C69-C43E-7049-192B4746F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560" y="1487962"/>
            <a:ext cx="7459116" cy="45821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65361-FA38-0901-4A01-EAE48908C89A}"/>
              </a:ext>
            </a:extLst>
          </p:cNvPr>
          <p:cNvSpPr txBox="1">
            <a:spLocks/>
          </p:cNvSpPr>
          <p:nvPr/>
        </p:nvSpPr>
        <p:spPr>
          <a:xfrm>
            <a:off x="271461" y="2825531"/>
            <a:ext cx="4036218" cy="17290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/>
              <a:t>The appearance of a histogram is critically dependent on </a:t>
            </a:r>
            <a:r>
              <a:rPr lang="nb-NO" b="1"/>
              <a:t>bin width </a:t>
            </a:r>
            <a:r>
              <a:rPr lang="nb-NO"/>
              <a:t>chosen…</a:t>
            </a:r>
            <a:endParaRPr lang="en-GB"/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683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Distributions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2A1EA1-878A-FEC5-07C8-EDA5FAC35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3481"/>
            <a:ext cx="6515665" cy="1615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10EAC6-BAD5-094D-D5F6-E049DD420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99061"/>
            <a:ext cx="6477561" cy="32692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9994B6-F749-A5F3-400A-DCABEDB1DA72}"/>
              </a:ext>
            </a:extLst>
          </p:cNvPr>
          <p:cNvSpPr/>
          <p:nvPr/>
        </p:nvSpPr>
        <p:spPr>
          <a:xfrm>
            <a:off x="2458661" y="1483481"/>
            <a:ext cx="1650380" cy="161558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79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Density plots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E6329F-F889-C38F-A4F1-8BF6B3671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066" y="2095266"/>
            <a:ext cx="5953956" cy="33532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E3B01-E95F-5F34-29A6-D50E543CE5FF}"/>
              </a:ext>
            </a:extLst>
          </p:cNvPr>
          <p:cNvSpPr txBox="1">
            <a:spLocks/>
          </p:cNvSpPr>
          <p:nvPr/>
        </p:nvSpPr>
        <p:spPr>
          <a:xfrm>
            <a:off x="482977" y="2095266"/>
            <a:ext cx="4239041" cy="31752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/>
              <a:t>Similar to a histogram but produce a smooth curve</a:t>
            </a:r>
          </a:p>
          <a:p>
            <a:endParaRPr lang="nb-NO"/>
          </a:p>
          <a:p>
            <a:r>
              <a:rPr lang="nb-NO"/>
              <a:t>Depend on the </a:t>
            </a:r>
            <a:r>
              <a:rPr lang="nb-NO" b="1"/>
              <a:t>kernel</a:t>
            </a:r>
            <a:r>
              <a:rPr lang="nb-NO"/>
              <a:t> and </a:t>
            </a:r>
            <a:r>
              <a:rPr lang="nb-NO" b="1"/>
              <a:t>bandwidth</a:t>
            </a:r>
            <a:r>
              <a:rPr lang="nb-NO"/>
              <a:t> rather than the bin size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  <a:p>
            <a:endParaRPr lang="en-US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43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Density plots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E6329F-F889-C38F-A4F1-8BF6B3671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066" y="2095266"/>
            <a:ext cx="5953956" cy="335326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DD23F-5470-1F37-3EEC-F446663C85E4}"/>
              </a:ext>
            </a:extLst>
          </p:cNvPr>
          <p:cNvSpPr txBox="1">
            <a:spLocks/>
          </p:cNvSpPr>
          <p:nvPr/>
        </p:nvSpPr>
        <p:spPr>
          <a:xfrm>
            <a:off x="482977" y="2095266"/>
            <a:ext cx="4239041" cy="31752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/>
              <a:t>…a </a:t>
            </a:r>
            <a:r>
              <a:rPr lang="nb-NO" b="1"/>
              <a:t>pitfall of density plots </a:t>
            </a:r>
            <a:r>
              <a:rPr lang="nb-NO"/>
              <a:t>is that they can give the appearance of data where there is none by extending the tails of the distribution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563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Density plots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E6329F-F889-C38F-A4F1-8BF6B3671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066" y="2095266"/>
            <a:ext cx="5953956" cy="3353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75CB00-38EC-8C2C-E903-513230164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684" y="1802344"/>
            <a:ext cx="5973009" cy="36962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3E376-474E-D165-5894-D1F237B88620}"/>
              </a:ext>
            </a:extLst>
          </p:cNvPr>
          <p:cNvSpPr txBox="1">
            <a:spLocks/>
          </p:cNvSpPr>
          <p:nvPr/>
        </p:nvSpPr>
        <p:spPr>
          <a:xfrm>
            <a:off x="482977" y="2095266"/>
            <a:ext cx="4239041" cy="31752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/>
              <a:t>…a </a:t>
            </a:r>
            <a:r>
              <a:rPr lang="nb-NO" b="1"/>
              <a:t>pitfall of density plots </a:t>
            </a:r>
            <a:r>
              <a:rPr lang="nb-NO"/>
              <a:t>is that they can give the appearance of data where there is none by extending the tails of the distribution</a:t>
            </a:r>
          </a:p>
          <a:p>
            <a:pPr lvl="1"/>
            <a:endParaRPr lang="en-US">
              <a:cs typeface="Courier New" panose="02070309020205020404" pitchFamily="49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9B0FC5F-EEA4-BA50-5C09-5578E10F9E30}"/>
              </a:ext>
            </a:extLst>
          </p:cNvPr>
          <p:cNvSpPr/>
          <p:nvPr/>
        </p:nvSpPr>
        <p:spPr>
          <a:xfrm>
            <a:off x="6350794" y="4329113"/>
            <a:ext cx="1250156" cy="1169447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6192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Distributions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2A1EA1-878A-FEC5-07C8-EDA5FAC35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3481"/>
            <a:ext cx="6515665" cy="1615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10EAC6-BAD5-094D-D5F6-E049DD420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99061"/>
            <a:ext cx="6477561" cy="32692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9994B6-F749-A5F3-400A-DCABEDB1DA72}"/>
              </a:ext>
            </a:extLst>
          </p:cNvPr>
          <p:cNvSpPr/>
          <p:nvPr/>
        </p:nvSpPr>
        <p:spPr>
          <a:xfrm>
            <a:off x="2469813" y="4733692"/>
            <a:ext cx="1650380" cy="161558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83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Visualizing multiple distributions</a:t>
            </a: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68F767-E913-3088-5ED0-437675527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66" y="2021437"/>
            <a:ext cx="3813564" cy="21147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80152D-46F6-F81C-6EFA-FA8E73B51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530" y="2021437"/>
            <a:ext cx="3534395" cy="21147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90D1E2-AF2A-F84D-85A6-059538FEB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946" y="1896238"/>
            <a:ext cx="3975375" cy="223999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C70A1D3-CC9B-1A58-8B6D-15807BC4F577}"/>
              </a:ext>
            </a:extLst>
          </p:cNvPr>
          <p:cNvSpPr txBox="1">
            <a:spLocks/>
          </p:cNvSpPr>
          <p:nvPr/>
        </p:nvSpPr>
        <p:spPr>
          <a:xfrm>
            <a:off x="788194" y="4587341"/>
            <a:ext cx="2833688" cy="380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sz="2000">
                <a:cs typeface="Courier New" panose="02070309020205020404" pitchFamily="49" charset="0"/>
              </a:rPr>
              <a:t>Overlapping density plots</a:t>
            </a:r>
          </a:p>
          <a:p>
            <a:pPr marL="0"/>
            <a:endParaRPr lang="en-US" sz="2000">
              <a:cs typeface="Courier New" panose="02070309020205020404" pitchFamily="49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2D488E4-4710-6EB2-E0F9-A07E0DABFEFF}"/>
              </a:ext>
            </a:extLst>
          </p:cNvPr>
          <p:cNvSpPr txBox="1">
            <a:spLocks/>
          </p:cNvSpPr>
          <p:nvPr/>
        </p:nvSpPr>
        <p:spPr>
          <a:xfrm>
            <a:off x="5138505" y="4587341"/>
            <a:ext cx="1516856" cy="380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sz="2000">
                <a:cs typeface="Courier New" panose="02070309020205020404" pitchFamily="49" charset="0"/>
              </a:rPr>
              <a:t>Age pyramid</a:t>
            </a:r>
          </a:p>
          <a:p>
            <a:pPr marL="0"/>
            <a:endParaRPr lang="en-US" sz="2000">
              <a:cs typeface="Courier New" panose="02070309020205020404" pitchFamily="49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ADA5F2F-2CDF-E191-25E7-54A2568C1F82}"/>
              </a:ext>
            </a:extLst>
          </p:cNvPr>
          <p:cNvSpPr txBox="1">
            <a:spLocks/>
          </p:cNvSpPr>
          <p:nvPr/>
        </p:nvSpPr>
        <p:spPr>
          <a:xfrm>
            <a:off x="8788240" y="4525211"/>
            <a:ext cx="2833688" cy="6468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2000">
                <a:cs typeface="Courier New" panose="02070309020205020404" pitchFamily="49" charset="0"/>
              </a:rPr>
              <a:t>Overlapping density plots with transparency</a:t>
            </a:r>
          </a:p>
          <a:p>
            <a:pPr marL="0" algn="ctr"/>
            <a:endParaRPr lang="en-US" sz="200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52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Visualizing multiple distributions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C70A1D3-CC9B-1A58-8B6D-15807BC4F577}"/>
              </a:ext>
            </a:extLst>
          </p:cNvPr>
          <p:cNvSpPr txBox="1">
            <a:spLocks/>
          </p:cNvSpPr>
          <p:nvPr/>
        </p:nvSpPr>
        <p:spPr>
          <a:xfrm>
            <a:off x="997510" y="5794636"/>
            <a:ext cx="9968146" cy="380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sz="2000">
                <a:cs typeface="Courier New" panose="02070309020205020404" pitchFamily="49" charset="0"/>
              </a:rPr>
              <a:t>Labelled “bad” because error bars traditionally show a measure of uncertainty, not variability</a:t>
            </a:r>
          </a:p>
          <a:p>
            <a:pPr marL="0"/>
            <a:endParaRPr lang="en-US" sz="2000"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B7381E-3272-1E56-0993-53B04DCEF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213" y="1764009"/>
            <a:ext cx="6030167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4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Distributions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2A1EA1-878A-FEC5-07C8-EDA5FAC35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3481"/>
            <a:ext cx="6515665" cy="1615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10EAC6-BAD5-094D-D5F6-E049DD420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99061"/>
            <a:ext cx="6477561" cy="32692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9994B6-F749-A5F3-400A-DCABEDB1DA72}"/>
              </a:ext>
            </a:extLst>
          </p:cNvPr>
          <p:cNvSpPr/>
          <p:nvPr/>
        </p:nvSpPr>
        <p:spPr>
          <a:xfrm>
            <a:off x="800096" y="3118112"/>
            <a:ext cx="1650380" cy="161558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47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Visualizing multiple distributions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C6A3F-623D-3804-0C99-409B969DC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07381"/>
            <a:ext cx="4265086" cy="357454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7E647BA-1615-8AC8-C5EC-B867226EB13A}"/>
              </a:ext>
            </a:extLst>
          </p:cNvPr>
          <p:cNvSpPr txBox="1">
            <a:spLocks/>
          </p:cNvSpPr>
          <p:nvPr/>
        </p:nvSpPr>
        <p:spPr>
          <a:xfrm>
            <a:off x="638232" y="2501366"/>
            <a:ext cx="5041049" cy="2949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 sz="2000" b="1">
                <a:cs typeface="Courier New" panose="02070309020205020404" pitchFamily="49" charset="0"/>
              </a:rPr>
              <a:t>Boxplots</a:t>
            </a:r>
            <a:r>
              <a:rPr lang="en-US" sz="2000">
                <a:cs typeface="Courier New" panose="02070309020205020404" pitchFamily="49" charset="0"/>
              </a:rPr>
              <a:t> show more data about an underlying distribution</a:t>
            </a:r>
          </a:p>
          <a:p>
            <a:pPr marL="342900" lvl="1" indent="-342900"/>
            <a:endParaRPr lang="en-US" sz="2000">
              <a:cs typeface="Courier New" panose="02070309020205020404" pitchFamily="49" charset="0"/>
            </a:endParaRPr>
          </a:p>
          <a:p>
            <a:pPr marL="0"/>
            <a:endParaRPr lang="en-US" sz="200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35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Visualizing multiple distributions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1934CC-DA3F-CF92-02E2-B70DCEDA5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666" y="2158884"/>
            <a:ext cx="5953956" cy="352474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FF8347-E080-6F2A-2B9A-927138F32C44}"/>
              </a:ext>
            </a:extLst>
          </p:cNvPr>
          <p:cNvSpPr txBox="1">
            <a:spLocks/>
          </p:cNvSpPr>
          <p:nvPr/>
        </p:nvSpPr>
        <p:spPr>
          <a:xfrm>
            <a:off x="638232" y="2501366"/>
            <a:ext cx="5041049" cy="2949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 sz="2000" b="1">
                <a:cs typeface="Courier New" panose="02070309020205020404" pitchFamily="49" charset="0"/>
              </a:rPr>
              <a:t>Boxplots</a:t>
            </a:r>
            <a:r>
              <a:rPr lang="en-US" sz="2000">
                <a:cs typeface="Courier New" panose="02070309020205020404" pitchFamily="49" charset="0"/>
              </a:rPr>
              <a:t> show more data about an underlying distribution</a:t>
            </a:r>
          </a:p>
          <a:p>
            <a:pPr marL="342900" lvl="1" indent="-342900"/>
            <a:endParaRPr lang="en-US" sz="2000">
              <a:cs typeface="Courier New" panose="02070309020205020404" pitchFamily="49" charset="0"/>
            </a:endParaRPr>
          </a:p>
          <a:p>
            <a:pPr marL="342900" lvl="1" indent="-342900"/>
            <a:r>
              <a:rPr lang="en-US" sz="2000">
                <a:cs typeface="Courier New" panose="02070309020205020404" pitchFamily="49" charset="0"/>
              </a:rPr>
              <a:t>Can be used to view many distributions at once</a:t>
            </a:r>
          </a:p>
          <a:p>
            <a:pPr marL="342900" lvl="1" indent="-342900"/>
            <a:endParaRPr lang="en-US" sz="2000">
              <a:cs typeface="Courier New" panose="02070309020205020404" pitchFamily="49" charset="0"/>
            </a:endParaRPr>
          </a:p>
          <a:p>
            <a:pPr marL="342900" lvl="1" indent="-342900"/>
            <a:r>
              <a:rPr lang="en-US" sz="2000">
                <a:cs typeface="Courier New" panose="02070309020205020404" pitchFamily="49" charset="0"/>
              </a:rPr>
              <a:t>However, not good at showing all nuances of data, for example, biomodal distributions</a:t>
            </a:r>
          </a:p>
          <a:p>
            <a:pPr marL="0"/>
            <a:endParaRPr lang="en-US" sz="200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36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Distributions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2A1EA1-878A-FEC5-07C8-EDA5FAC35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3481"/>
            <a:ext cx="6515665" cy="1615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10EAC6-BAD5-094D-D5F6-E049DD420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99061"/>
            <a:ext cx="6477561" cy="32692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9994B6-F749-A5F3-400A-DCABEDB1DA72}"/>
              </a:ext>
            </a:extLst>
          </p:cNvPr>
          <p:cNvSpPr/>
          <p:nvPr/>
        </p:nvSpPr>
        <p:spPr>
          <a:xfrm>
            <a:off x="2428176" y="3118112"/>
            <a:ext cx="1650380" cy="161558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17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Visualizing multiple distributions</a:t>
            </a:r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FF8347-E080-6F2A-2B9A-927138F32C44}"/>
              </a:ext>
            </a:extLst>
          </p:cNvPr>
          <p:cNvSpPr txBox="1">
            <a:spLocks/>
          </p:cNvSpPr>
          <p:nvPr/>
        </p:nvSpPr>
        <p:spPr>
          <a:xfrm>
            <a:off x="638232" y="2501366"/>
            <a:ext cx="5041049" cy="2949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 sz="2000" b="1">
                <a:cs typeface="Courier New" panose="02070309020205020404" pitchFamily="49" charset="0"/>
              </a:rPr>
              <a:t>Violin plots </a:t>
            </a:r>
            <a:r>
              <a:rPr lang="en-US" sz="2000">
                <a:cs typeface="Courier New" panose="02070309020205020404" pitchFamily="49" charset="0"/>
              </a:rPr>
              <a:t>are basically a density plot that has been rotated and mirrored</a:t>
            </a:r>
          </a:p>
          <a:p>
            <a:pPr marL="0"/>
            <a:endParaRPr lang="en-US" sz="2000"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3E2A2-B319-3313-861E-53F976CF9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71" y="2207418"/>
            <a:ext cx="4416097" cy="347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99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Visualizing multiple distributions</a:t>
            </a:r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FF8347-E080-6F2A-2B9A-927138F32C44}"/>
              </a:ext>
            </a:extLst>
          </p:cNvPr>
          <p:cNvSpPr txBox="1">
            <a:spLocks/>
          </p:cNvSpPr>
          <p:nvPr/>
        </p:nvSpPr>
        <p:spPr>
          <a:xfrm>
            <a:off x="638232" y="2501366"/>
            <a:ext cx="5041049" cy="2949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 sz="2000" b="1">
                <a:cs typeface="Courier New" panose="02070309020205020404" pitchFamily="49" charset="0"/>
              </a:rPr>
              <a:t>Violin plots </a:t>
            </a:r>
            <a:r>
              <a:rPr lang="en-US" sz="2000">
                <a:cs typeface="Courier New" panose="02070309020205020404" pitchFamily="49" charset="0"/>
              </a:rPr>
              <a:t>are basically a density plot that has been rotated and mirrored</a:t>
            </a:r>
          </a:p>
          <a:p>
            <a:pPr marL="342900" lvl="1" indent="-342900"/>
            <a:endParaRPr lang="en-US" sz="2000">
              <a:cs typeface="Courier New" panose="02070309020205020404" pitchFamily="49" charset="0"/>
            </a:endParaRPr>
          </a:p>
          <a:p>
            <a:pPr marL="342900" lvl="1" indent="-342900"/>
            <a:r>
              <a:rPr lang="en-US" sz="2000">
                <a:cs typeface="Courier New" panose="02070309020205020404" pitchFamily="49" charset="0"/>
              </a:rPr>
              <a:t>An effective way of showing multiple distributions but important to remember same caveats as with density plot – visualization should stop at the end of the range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52B88C-7D28-EF99-8834-3F50E795F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161" y="2119066"/>
            <a:ext cx="6106377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307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x-y relationships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9B95BB-8565-D016-0E64-F9B6C8A28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87" y="1528390"/>
            <a:ext cx="6515665" cy="16155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7D850D-0229-506B-5896-1C3569995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86" y="3143970"/>
            <a:ext cx="6515665" cy="15774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FEE082-1A5C-2074-5DD6-56F652D58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698585"/>
            <a:ext cx="4884843" cy="16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1683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Uncertainty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9FBAD7-1F9C-77EB-0F9D-7FFA0C883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29" y="1690688"/>
            <a:ext cx="6515665" cy="16384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119E89-C5A2-AE09-7388-5F605AE70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29" y="3312403"/>
            <a:ext cx="6492803" cy="16308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282D0-51E4-69D5-8DC7-9CE1966CBEAA}"/>
              </a:ext>
            </a:extLst>
          </p:cNvPr>
          <p:cNvSpPr txBox="1">
            <a:spLocks/>
          </p:cNvSpPr>
          <p:nvPr/>
        </p:nvSpPr>
        <p:spPr>
          <a:xfrm>
            <a:off x="7485081" y="1837745"/>
            <a:ext cx="4457875" cy="2949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>
                <a:cs typeface="Courier New" panose="02070309020205020404" pitchFamily="49" charset="0"/>
              </a:rPr>
              <a:t>How we represent uncertainty might depend on the intended audience</a:t>
            </a:r>
          </a:p>
          <a:p>
            <a:pPr marL="342900" lvl="1" indent="-342900"/>
            <a:r>
              <a:rPr lang="en-US">
                <a:cs typeface="Courier New" panose="02070309020205020404" pitchFamily="49" charset="0"/>
              </a:rPr>
              <a:t>Scientific audiences might understand something about the statistics behind uncertainty whereas a lay audience probably does not</a:t>
            </a:r>
          </a:p>
          <a:p>
            <a:pPr marL="0"/>
            <a:endParaRPr lang="en-US" sz="240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93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Uncertainty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282D0-51E4-69D5-8DC7-9CE1966CBEAA}"/>
              </a:ext>
            </a:extLst>
          </p:cNvPr>
          <p:cNvSpPr txBox="1">
            <a:spLocks/>
          </p:cNvSpPr>
          <p:nvPr/>
        </p:nvSpPr>
        <p:spPr>
          <a:xfrm>
            <a:off x="1631243" y="5402106"/>
            <a:ext cx="8929513" cy="900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>
                <a:cs typeface="Courier New" panose="02070309020205020404" pitchFamily="49" charset="0"/>
              </a:rPr>
              <a:t>How can we show the probability of yellow winning in a way that is easier for human perception to interpret?</a:t>
            </a:r>
            <a:endParaRPr lang="en-US" sz="2400"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67161-D248-E2BB-2B02-76B83D745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780" y="1460778"/>
            <a:ext cx="7939747" cy="377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2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Uncertainty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282D0-51E4-69D5-8DC7-9CE1966CBEAA}"/>
              </a:ext>
            </a:extLst>
          </p:cNvPr>
          <p:cNvSpPr txBox="1">
            <a:spLocks/>
          </p:cNvSpPr>
          <p:nvPr/>
        </p:nvSpPr>
        <p:spPr>
          <a:xfrm>
            <a:off x="1631243" y="5402106"/>
            <a:ext cx="8929513" cy="900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>
                <a:cs typeface="Courier New" panose="02070309020205020404" pitchFamily="49" charset="0"/>
              </a:rPr>
              <a:t>This is an example of </a:t>
            </a:r>
            <a:r>
              <a:rPr lang="en-US" b="1">
                <a:cs typeface="Courier New" panose="02070309020205020404" pitchFamily="49" charset="0"/>
              </a:rPr>
              <a:t>discrete outcome visualization </a:t>
            </a:r>
            <a:r>
              <a:rPr lang="en-US">
                <a:cs typeface="Courier New" panose="02070309020205020404" pitchFamily="49" charset="0"/>
              </a:rPr>
              <a:t>and showing probability as a frequency is known as </a:t>
            </a:r>
            <a:r>
              <a:rPr lang="en-US" b="1">
                <a:cs typeface="Courier New" panose="02070309020205020404" pitchFamily="49" charset="0"/>
              </a:rPr>
              <a:t>frequency framing</a:t>
            </a:r>
            <a:endParaRPr lang="en-US" sz="2400"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F96428-B2AF-9107-39BA-BFBB21719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951" y="1528994"/>
            <a:ext cx="9080098" cy="360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7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Uncertainty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282D0-51E4-69D5-8DC7-9CE1966CBEAA}"/>
              </a:ext>
            </a:extLst>
          </p:cNvPr>
          <p:cNvSpPr txBox="1">
            <a:spLocks/>
          </p:cNvSpPr>
          <p:nvPr/>
        </p:nvSpPr>
        <p:spPr>
          <a:xfrm>
            <a:off x="1631243" y="5402106"/>
            <a:ext cx="8929513" cy="900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>
                <a:cs typeface="Courier New" panose="02070309020205020404" pitchFamily="49" charset="0"/>
              </a:rPr>
              <a:t>How can we show the probability of yellow winning in a way that is easier for human perception to interpret?</a:t>
            </a:r>
            <a:endParaRPr lang="en-US" sz="2400"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67161-D248-E2BB-2B02-76B83D745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780" y="1460778"/>
            <a:ext cx="7939747" cy="377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8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Uncertainty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282D0-51E4-69D5-8DC7-9CE1966CBEAA}"/>
              </a:ext>
            </a:extLst>
          </p:cNvPr>
          <p:cNvSpPr txBox="1">
            <a:spLocks/>
          </p:cNvSpPr>
          <p:nvPr/>
        </p:nvSpPr>
        <p:spPr>
          <a:xfrm>
            <a:off x="1419370" y="5096108"/>
            <a:ext cx="9722557" cy="15646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en-US">
                <a:cs typeface="Courier New" panose="02070309020205020404" pitchFamily="49" charset="0"/>
              </a:rPr>
              <a:t>A </a:t>
            </a:r>
            <a:r>
              <a:rPr lang="en-US" b="1">
                <a:cs typeface="Courier New" panose="02070309020205020404" pitchFamily="49" charset="0"/>
              </a:rPr>
              <a:t>quantile dotplot </a:t>
            </a:r>
            <a:r>
              <a:rPr lang="en-US">
                <a:cs typeface="Courier New" panose="02070309020205020404" pitchFamily="49" charset="0"/>
              </a:rPr>
              <a:t>combines a discrete outcome visualization with a continuous distribution</a:t>
            </a:r>
          </a:p>
          <a:p>
            <a:pPr marL="342900" lvl="1" indent="-342900"/>
            <a:r>
              <a:rPr lang="en-US">
                <a:cs typeface="Courier New" panose="02070309020205020404" pitchFamily="49" charset="0"/>
              </a:rPr>
              <a:t>Takes advantage of the fact that humans are better at perceiving discrete units compared to areas</a:t>
            </a:r>
            <a:endParaRPr lang="en-US" sz="2400"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C58207-E745-7685-B1D1-059A00450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580" y="1595507"/>
            <a:ext cx="8658232" cy="29318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872B66-A0D6-A000-DC67-7D71864CC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456" y="4527395"/>
            <a:ext cx="4060591" cy="30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0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254B3068-6C5B-68BC-5387-DFAF01090A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36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398876-94DF-6EF5-F89D-515E3259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rgbClr val="FFFFFF"/>
                </a:solidFill>
                <a:latin typeface="Gameplay" panose="00000400000000000000" pitchFamily="2" charset="0"/>
              </a:rPr>
              <a:t>COFFEE TIME</a:t>
            </a:r>
          </a:p>
        </p:txBody>
      </p:sp>
    </p:spTree>
    <p:extLst>
      <p:ext uri="{BB962C8B-B14F-4D97-AF65-F5344CB8AC3E}">
        <p14:creationId xmlns:p14="http://schemas.microsoft.com/office/powerpoint/2010/main" val="39989460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Your projects (the “exam”)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8708837-46EF-5D94-0C40-414511E548D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55321" y="2575034"/>
            <a:ext cx="5120113" cy="346222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500">
                <a:effectLst/>
              </a:rPr>
              <a:t>Final assessment will be via submission of a homework project in which the student has analyzed their own data, tested hypotheses, and produced graphical output. The project must be submitted to an online repository with full documentation.</a:t>
            </a:r>
          </a:p>
          <a:p>
            <a:pPr>
              <a:spcAft>
                <a:spcPts val="800"/>
              </a:spcAft>
            </a:pPr>
            <a:r>
              <a:rPr lang="en-US" sz="1500">
                <a:effectLst/>
              </a:rPr>
              <a:t>The grading is Bestått (approved) / Ikke bestått (not approved).</a:t>
            </a:r>
          </a:p>
          <a:p>
            <a:pPr>
              <a:spcAft>
                <a:spcPts val="800"/>
              </a:spcAft>
            </a:pPr>
            <a:r>
              <a:rPr lang="en-US" sz="1500">
                <a:effectLst/>
              </a:rPr>
              <a:t>All submitted projects must have:</a:t>
            </a:r>
          </a:p>
          <a:p>
            <a:pPr marL="800100" lvl="1"/>
            <a:r>
              <a:rPr lang="en-US" sz="1500">
                <a:effectLst/>
              </a:rPr>
              <a:t>Link to an online Github repository</a:t>
            </a:r>
          </a:p>
          <a:p>
            <a:pPr marL="800100" lvl="1">
              <a:spcAft>
                <a:spcPts val="800"/>
              </a:spcAft>
            </a:pPr>
            <a:r>
              <a:rPr lang="en-US" sz="1500">
                <a:effectLst/>
              </a:rPr>
              <a:t>PDF with documentation and short write-up of project including examples of figures and justification of choices.</a:t>
            </a:r>
          </a:p>
        </p:txBody>
      </p:sp>
      <p:pic>
        <p:nvPicPr>
          <p:cNvPr id="9" name="Picture 8" descr="A picture containing text, person, outdoor, orange&#10;&#10;Description automatically generated">
            <a:extLst>
              <a:ext uri="{FF2B5EF4-FFF2-40B4-BE49-F238E27FC236}">
                <a16:creationId xmlns:a16="http://schemas.microsoft.com/office/drawing/2014/main" id="{629FE1E9-FB56-7286-820F-365928DA85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45"/>
          <a:stretch/>
        </p:blipFill>
        <p:spPr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23329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Your projects (the “exam”)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EF54C0-72D3-DB4D-A04B-2E0F68A07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30262"/>
            <a:ext cx="10744200" cy="481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0903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EBCED-BD05-35C4-E2B6-F29138B52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</a:t>
            </a:r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68BBB5-33EA-4B62-CA7F-913A32157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320149"/>
              </p:ext>
            </p:extLst>
          </p:nvPr>
        </p:nvGraphicFramePr>
        <p:xfrm>
          <a:off x="986246" y="2147297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657">
                  <a:extLst>
                    <a:ext uri="{9D8B030D-6E8A-4147-A177-3AD203B41FA5}">
                      <a16:colId xmlns:a16="http://schemas.microsoft.com/office/drawing/2014/main" val="4225813637"/>
                    </a:ext>
                  </a:extLst>
                </a:gridCol>
                <a:gridCol w="6571343">
                  <a:extLst>
                    <a:ext uri="{9D8B030D-6E8A-4147-A177-3AD203B41FA5}">
                      <a16:colId xmlns:a16="http://schemas.microsoft.com/office/drawing/2014/main" val="3627445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Activity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59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19 October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Project setup and version control in class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17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16 November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3-5 min presentation of project (1 slide) in class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7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30 November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Peer feedback by cloning each other’s projects in class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818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14 December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Submit in Wiseflow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404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165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826</Words>
  <Application>Microsoft Office PowerPoint</Application>
  <PresentationFormat>Widescreen</PresentationFormat>
  <Paragraphs>135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Courier New</vt:lpstr>
      <vt:lpstr>Gameplay</vt:lpstr>
      <vt:lpstr>Office Theme</vt:lpstr>
      <vt:lpstr>Programming and Data Visualization for Researchers for PSY3035 &amp; HEL8048</vt:lpstr>
      <vt:lpstr>More about data visualisation</vt:lpstr>
      <vt:lpstr>Directory of Visualizations</vt:lpstr>
      <vt:lpstr>Directory of Visualizations</vt:lpstr>
      <vt:lpstr>Amounts</vt:lpstr>
      <vt:lpstr>Amounts</vt:lpstr>
      <vt:lpstr>Bar charts</vt:lpstr>
      <vt:lpstr>Bar charts</vt:lpstr>
      <vt:lpstr>Bar charts</vt:lpstr>
      <vt:lpstr>Amounts</vt:lpstr>
      <vt:lpstr>The principle of proportional ink</vt:lpstr>
      <vt:lpstr>The principle of proportional ink</vt:lpstr>
      <vt:lpstr>PowerPoint Presentation</vt:lpstr>
      <vt:lpstr>The principle of proportional ink</vt:lpstr>
      <vt:lpstr>Dot plots</vt:lpstr>
      <vt:lpstr>Dot plots</vt:lpstr>
      <vt:lpstr>Distributions</vt:lpstr>
      <vt:lpstr>Histograms</vt:lpstr>
      <vt:lpstr>Histograms</vt:lpstr>
      <vt:lpstr>Histograms</vt:lpstr>
      <vt:lpstr>Distributions</vt:lpstr>
      <vt:lpstr>Density plots</vt:lpstr>
      <vt:lpstr>Density plots</vt:lpstr>
      <vt:lpstr>Density plots</vt:lpstr>
      <vt:lpstr>Distributions</vt:lpstr>
      <vt:lpstr>Visualizing multiple distributions</vt:lpstr>
      <vt:lpstr>Visualizing multiple distributions</vt:lpstr>
      <vt:lpstr>Distributions</vt:lpstr>
      <vt:lpstr>Visualizing multiple distributions</vt:lpstr>
      <vt:lpstr>Visualizing multiple distributions</vt:lpstr>
      <vt:lpstr>Distributions</vt:lpstr>
      <vt:lpstr>Visualizing multiple distributions</vt:lpstr>
      <vt:lpstr>Visualizing multiple distributions</vt:lpstr>
      <vt:lpstr>x-y relationships</vt:lpstr>
      <vt:lpstr>Uncertainty</vt:lpstr>
      <vt:lpstr>Uncertainty</vt:lpstr>
      <vt:lpstr>Uncertainty</vt:lpstr>
      <vt:lpstr>Uncertainty</vt:lpstr>
      <vt:lpstr>Uncertainty</vt:lpstr>
      <vt:lpstr>COFFEE TIME</vt:lpstr>
      <vt:lpstr>Your projects (the “exam”)</vt:lpstr>
      <vt:lpstr>Your projects (the “exam”)</vt:lpstr>
      <vt:lpstr>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and Data Visualization for Researchers [PSY-3035] </dc:title>
  <dc:creator>James Edgar McCutcheon</dc:creator>
  <cp:lastModifiedBy>James Edgar McCutcheon</cp:lastModifiedBy>
  <cp:revision>6</cp:revision>
  <dcterms:created xsi:type="dcterms:W3CDTF">2023-01-26T07:34:03Z</dcterms:created>
  <dcterms:modified xsi:type="dcterms:W3CDTF">2026-10-12T09:21:56Z</dcterms:modified>
</cp:coreProperties>
</file>