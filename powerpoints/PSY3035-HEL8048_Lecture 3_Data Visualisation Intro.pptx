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5"/>
  </p:notesMasterIdLst>
  <p:sldIdLst>
    <p:sldId id="258" r:id="rId2"/>
    <p:sldId id="335" r:id="rId3"/>
    <p:sldId id="336" r:id="rId4"/>
    <p:sldId id="337" r:id="rId5"/>
    <p:sldId id="338" r:id="rId6"/>
    <p:sldId id="339" r:id="rId7"/>
    <p:sldId id="340" r:id="rId8"/>
    <p:sldId id="342" r:id="rId9"/>
    <p:sldId id="341" r:id="rId10"/>
    <p:sldId id="343" r:id="rId11"/>
    <p:sldId id="362" r:id="rId12"/>
    <p:sldId id="363" r:id="rId13"/>
    <p:sldId id="364" r:id="rId14"/>
    <p:sldId id="365" r:id="rId15"/>
    <p:sldId id="366" r:id="rId16"/>
    <p:sldId id="367" r:id="rId17"/>
    <p:sldId id="344" r:id="rId18"/>
    <p:sldId id="281" r:id="rId19"/>
    <p:sldId id="283" r:id="rId20"/>
    <p:sldId id="284" r:id="rId21"/>
    <p:sldId id="334" r:id="rId22"/>
    <p:sldId id="345" r:id="rId23"/>
    <p:sldId id="346" r:id="rId24"/>
    <p:sldId id="347" r:id="rId25"/>
    <p:sldId id="348" r:id="rId26"/>
    <p:sldId id="349" r:id="rId27"/>
    <p:sldId id="350" r:id="rId28"/>
    <p:sldId id="351" r:id="rId29"/>
    <p:sldId id="352" r:id="rId30"/>
    <p:sldId id="353" r:id="rId31"/>
    <p:sldId id="354" r:id="rId32"/>
    <p:sldId id="355" r:id="rId33"/>
    <p:sldId id="356" r:id="rId34"/>
    <p:sldId id="357" r:id="rId35"/>
    <p:sldId id="358" r:id="rId36"/>
    <p:sldId id="359" r:id="rId37"/>
    <p:sldId id="361" r:id="rId38"/>
    <p:sldId id="369" r:id="rId39"/>
    <p:sldId id="288" r:id="rId40"/>
    <p:sldId id="289" r:id="rId41"/>
    <p:sldId id="292" r:id="rId42"/>
    <p:sldId id="293" r:id="rId43"/>
    <p:sldId id="294" r:id="rId44"/>
    <p:sldId id="295" r:id="rId45"/>
    <p:sldId id="296" r:id="rId46"/>
    <p:sldId id="297" r:id="rId47"/>
    <p:sldId id="285" r:id="rId48"/>
    <p:sldId id="286" r:id="rId49"/>
    <p:sldId id="287" r:id="rId50"/>
    <p:sldId id="298" r:id="rId51"/>
    <p:sldId id="299" r:id="rId52"/>
    <p:sldId id="300" r:id="rId53"/>
    <p:sldId id="368" r:id="rId54"/>
  </p:sldIdLst>
  <p:sldSz cx="12192000" cy="6858000"/>
  <p:notesSz cx="6858000" cy="9144000"/>
  <p:embeddedFontLst>
    <p:embeddedFont>
      <p:font typeface="Consolas" panose="020B0609020204030204" pitchFamily="49" charset="0"/>
      <p:regular r:id="rId56"/>
      <p:bold r:id="rId57"/>
      <p:italic r:id="rId58"/>
      <p:boldItalic r:id="rId59"/>
    </p:embeddedFont>
    <p:embeddedFont>
      <p:font typeface="Gameplay" panose="00000400000000000000" pitchFamily="2" charset="0"/>
      <p:regular r:id="rId6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4393" autoAdjust="0"/>
  </p:normalViewPr>
  <p:slideViewPr>
    <p:cSldViewPr snapToGrid="0">
      <p:cViewPr varScale="1">
        <p:scale>
          <a:sx n="73" d="100"/>
          <a:sy n="73" d="100"/>
        </p:scale>
        <p:origin x="172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3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1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5.fntdata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Edgar McCutcheon" userId="7f873ef2-5165-4f07-9a0f-a18721295519" providerId="ADAL" clId="{042E2793-3DC5-4CE9-BA91-01603716AA59}"/>
    <pc:docChg chg="addSld modSld sldOrd">
      <pc:chgData name="James Edgar McCutcheon" userId="7f873ef2-5165-4f07-9a0f-a18721295519" providerId="ADAL" clId="{042E2793-3DC5-4CE9-BA91-01603716AA59}" dt="2026-09-21T07:15:41.998" v="34"/>
      <pc:docMkLst>
        <pc:docMk/>
      </pc:docMkLst>
      <pc:sldChg chg="modSp mod">
        <pc:chgData name="James Edgar McCutcheon" userId="7f873ef2-5165-4f07-9a0f-a18721295519" providerId="ADAL" clId="{042E2793-3DC5-4CE9-BA91-01603716AA59}" dt="2026-09-21T07:13:44.399" v="17" actId="20577"/>
        <pc:sldMkLst>
          <pc:docMk/>
          <pc:sldMk cId="466111256" sldId="258"/>
        </pc:sldMkLst>
        <pc:spChg chg="mod">
          <ac:chgData name="James Edgar McCutcheon" userId="7f873ef2-5165-4f07-9a0f-a18721295519" providerId="ADAL" clId="{042E2793-3DC5-4CE9-BA91-01603716AA59}" dt="2026-09-21T07:13:38.296" v="16" actId="6549"/>
          <ac:spMkLst>
            <pc:docMk/>
            <pc:sldMk cId="466111256" sldId="258"/>
            <ac:spMk id="2" creationId="{1C2CB861-1161-A2B4-7F33-CE37DE120B14}"/>
          </ac:spMkLst>
        </pc:spChg>
        <pc:spChg chg="mod">
          <ac:chgData name="James Edgar McCutcheon" userId="7f873ef2-5165-4f07-9a0f-a18721295519" providerId="ADAL" clId="{042E2793-3DC5-4CE9-BA91-01603716AA59}" dt="2026-09-21T07:13:44.399" v="17" actId="20577"/>
          <ac:spMkLst>
            <pc:docMk/>
            <pc:sldMk cId="466111256" sldId="258"/>
            <ac:spMk id="4" creationId="{56271E35-F436-B2E8-3B03-F51D03E799FA}"/>
          </ac:spMkLst>
        </pc:spChg>
      </pc:sldChg>
      <pc:sldChg chg="delSp add setBg delDesignElem">
        <pc:chgData name="James Edgar McCutcheon" userId="7f873ef2-5165-4f07-9a0f-a18721295519" providerId="ADAL" clId="{042E2793-3DC5-4CE9-BA91-01603716AA59}" dt="2026-09-21T07:15:41.998" v="34"/>
        <pc:sldMkLst>
          <pc:docMk/>
          <pc:sldMk cId="1323329611" sldId="283"/>
        </pc:sldMkLst>
        <pc:cxnChg chg="del">
          <ac:chgData name="James Edgar McCutcheon" userId="7f873ef2-5165-4f07-9a0f-a18721295519" providerId="ADAL" clId="{042E2793-3DC5-4CE9-BA91-01603716AA59}" dt="2026-09-21T07:15:41.998" v="34"/>
          <ac:cxnSpMkLst>
            <pc:docMk/>
            <pc:sldMk cId="1323329611" sldId="283"/>
            <ac:cxnSpMk id="16" creationId="{E4A809D5-3600-46D4-A466-67F2349A54FB}"/>
          </ac:cxnSpMkLst>
        </pc:cxnChg>
      </pc:sldChg>
      <pc:sldChg chg="add">
        <pc:chgData name="James Edgar McCutcheon" userId="7f873ef2-5165-4f07-9a0f-a18721295519" providerId="ADAL" clId="{042E2793-3DC5-4CE9-BA91-01603716AA59}" dt="2026-09-21T07:15:41.998" v="34"/>
        <pc:sldMkLst>
          <pc:docMk/>
          <pc:sldMk cId="2773090376" sldId="284"/>
        </pc:sldMkLst>
      </pc:sldChg>
      <pc:sldChg chg="add">
        <pc:chgData name="James Edgar McCutcheon" userId="7f873ef2-5165-4f07-9a0f-a18721295519" providerId="ADAL" clId="{042E2793-3DC5-4CE9-BA91-01603716AA59}" dt="2026-09-21T07:14:48.752" v="32"/>
        <pc:sldMkLst>
          <pc:docMk/>
          <pc:sldMk cId="4287712191" sldId="285"/>
        </pc:sldMkLst>
      </pc:sldChg>
      <pc:sldChg chg="add">
        <pc:chgData name="James Edgar McCutcheon" userId="7f873ef2-5165-4f07-9a0f-a18721295519" providerId="ADAL" clId="{042E2793-3DC5-4CE9-BA91-01603716AA59}" dt="2026-09-21T07:14:48.752" v="32"/>
        <pc:sldMkLst>
          <pc:docMk/>
          <pc:sldMk cId="3436342435" sldId="286"/>
        </pc:sldMkLst>
      </pc:sldChg>
      <pc:sldChg chg="add">
        <pc:chgData name="James Edgar McCutcheon" userId="7f873ef2-5165-4f07-9a0f-a18721295519" providerId="ADAL" clId="{042E2793-3DC5-4CE9-BA91-01603716AA59}" dt="2026-09-21T07:14:48.752" v="32"/>
        <pc:sldMkLst>
          <pc:docMk/>
          <pc:sldMk cId="83932575" sldId="287"/>
        </pc:sldMkLst>
      </pc:sldChg>
      <pc:sldChg chg="delSp add setBg delDesignElem">
        <pc:chgData name="James Edgar McCutcheon" userId="7f873ef2-5165-4f07-9a0f-a18721295519" providerId="ADAL" clId="{042E2793-3DC5-4CE9-BA91-01603716AA59}" dt="2026-09-21T07:14:48.752" v="32"/>
        <pc:sldMkLst>
          <pc:docMk/>
          <pc:sldMk cId="1742823840" sldId="288"/>
        </pc:sldMkLst>
        <pc:spChg chg="del">
          <ac:chgData name="James Edgar McCutcheon" userId="7f873ef2-5165-4f07-9a0f-a18721295519" providerId="ADAL" clId="{042E2793-3DC5-4CE9-BA91-01603716AA59}" dt="2026-09-21T07:14:48.752" v="32"/>
          <ac:spMkLst>
            <pc:docMk/>
            <pc:sldMk cId="1742823840" sldId="288"/>
            <ac:spMk id="18" creationId="{9B7AD9F6-8CE7-4299-8FC6-328F4DCD3FF9}"/>
          </ac:spMkLst>
        </pc:spChg>
        <pc:spChg chg="del">
          <ac:chgData name="James Edgar McCutcheon" userId="7f873ef2-5165-4f07-9a0f-a18721295519" providerId="ADAL" clId="{042E2793-3DC5-4CE9-BA91-01603716AA59}" dt="2026-09-21T07:14:48.752" v="32"/>
          <ac:spMkLst>
            <pc:docMk/>
            <pc:sldMk cId="1742823840" sldId="288"/>
            <ac:spMk id="19" creationId="{F49775AF-8896-43EE-92C6-83497D6DC56F}"/>
          </ac:spMkLst>
        </pc:spChg>
      </pc:sldChg>
      <pc:sldChg chg="add">
        <pc:chgData name="James Edgar McCutcheon" userId="7f873ef2-5165-4f07-9a0f-a18721295519" providerId="ADAL" clId="{042E2793-3DC5-4CE9-BA91-01603716AA59}" dt="2026-09-21T07:14:48.752" v="32"/>
        <pc:sldMkLst>
          <pc:docMk/>
          <pc:sldMk cId="3765546893" sldId="289"/>
        </pc:sldMkLst>
      </pc:sldChg>
      <pc:sldChg chg="add">
        <pc:chgData name="James Edgar McCutcheon" userId="7f873ef2-5165-4f07-9a0f-a18721295519" providerId="ADAL" clId="{042E2793-3DC5-4CE9-BA91-01603716AA59}" dt="2026-09-21T07:14:48.752" v="32"/>
        <pc:sldMkLst>
          <pc:docMk/>
          <pc:sldMk cId="166749496" sldId="292"/>
        </pc:sldMkLst>
      </pc:sldChg>
      <pc:sldChg chg="add">
        <pc:chgData name="James Edgar McCutcheon" userId="7f873ef2-5165-4f07-9a0f-a18721295519" providerId="ADAL" clId="{042E2793-3DC5-4CE9-BA91-01603716AA59}" dt="2026-09-21T07:14:48.752" v="32"/>
        <pc:sldMkLst>
          <pc:docMk/>
          <pc:sldMk cId="3689867556" sldId="293"/>
        </pc:sldMkLst>
      </pc:sldChg>
      <pc:sldChg chg="add">
        <pc:chgData name="James Edgar McCutcheon" userId="7f873ef2-5165-4f07-9a0f-a18721295519" providerId="ADAL" clId="{042E2793-3DC5-4CE9-BA91-01603716AA59}" dt="2026-09-21T07:14:48.752" v="32"/>
        <pc:sldMkLst>
          <pc:docMk/>
          <pc:sldMk cId="1967465039" sldId="294"/>
        </pc:sldMkLst>
      </pc:sldChg>
      <pc:sldChg chg="add">
        <pc:chgData name="James Edgar McCutcheon" userId="7f873ef2-5165-4f07-9a0f-a18721295519" providerId="ADAL" clId="{042E2793-3DC5-4CE9-BA91-01603716AA59}" dt="2026-09-21T07:14:48.752" v="32"/>
        <pc:sldMkLst>
          <pc:docMk/>
          <pc:sldMk cId="2148528636" sldId="295"/>
        </pc:sldMkLst>
      </pc:sldChg>
      <pc:sldChg chg="add">
        <pc:chgData name="James Edgar McCutcheon" userId="7f873ef2-5165-4f07-9a0f-a18721295519" providerId="ADAL" clId="{042E2793-3DC5-4CE9-BA91-01603716AA59}" dt="2026-09-21T07:14:48.752" v="32"/>
        <pc:sldMkLst>
          <pc:docMk/>
          <pc:sldMk cId="2802577485" sldId="296"/>
        </pc:sldMkLst>
      </pc:sldChg>
      <pc:sldChg chg="add">
        <pc:chgData name="James Edgar McCutcheon" userId="7f873ef2-5165-4f07-9a0f-a18721295519" providerId="ADAL" clId="{042E2793-3DC5-4CE9-BA91-01603716AA59}" dt="2026-09-21T07:14:48.752" v="32"/>
        <pc:sldMkLst>
          <pc:docMk/>
          <pc:sldMk cId="1155961473" sldId="297"/>
        </pc:sldMkLst>
      </pc:sldChg>
      <pc:sldChg chg="add">
        <pc:chgData name="James Edgar McCutcheon" userId="7f873ef2-5165-4f07-9a0f-a18721295519" providerId="ADAL" clId="{042E2793-3DC5-4CE9-BA91-01603716AA59}" dt="2026-09-21T07:14:48.752" v="32"/>
        <pc:sldMkLst>
          <pc:docMk/>
          <pc:sldMk cId="3637999081" sldId="298"/>
        </pc:sldMkLst>
      </pc:sldChg>
      <pc:sldChg chg="add">
        <pc:chgData name="James Edgar McCutcheon" userId="7f873ef2-5165-4f07-9a0f-a18721295519" providerId="ADAL" clId="{042E2793-3DC5-4CE9-BA91-01603716AA59}" dt="2026-09-21T07:14:48.752" v="32"/>
        <pc:sldMkLst>
          <pc:docMk/>
          <pc:sldMk cId="3410649387" sldId="299"/>
        </pc:sldMkLst>
      </pc:sldChg>
      <pc:sldChg chg="add">
        <pc:chgData name="James Edgar McCutcheon" userId="7f873ef2-5165-4f07-9a0f-a18721295519" providerId="ADAL" clId="{042E2793-3DC5-4CE9-BA91-01603716AA59}" dt="2026-09-21T07:14:48.752" v="32"/>
        <pc:sldMkLst>
          <pc:docMk/>
          <pc:sldMk cId="3568548893" sldId="300"/>
        </pc:sldMkLst>
      </pc:sldChg>
      <pc:sldChg chg="new">
        <pc:chgData name="James Edgar McCutcheon" userId="7f873ef2-5165-4f07-9a0f-a18721295519" providerId="ADAL" clId="{042E2793-3DC5-4CE9-BA91-01603716AA59}" dt="2026-09-21T07:13:57.776" v="18" actId="680"/>
        <pc:sldMkLst>
          <pc:docMk/>
          <pc:sldMk cId="812660760" sldId="368"/>
        </pc:sldMkLst>
      </pc:sldChg>
      <pc:sldChg chg="modSp add mod">
        <pc:chgData name="James Edgar McCutcheon" userId="7f873ef2-5165-4f07-9a0f-a18721295519" providerId="ADAL" clId="{042E2793-3DC5-4CE9-BA91-01603716AA59}" dt="2026-09-21T07:14:13.824" v="30" actId="20577"/>
        <pc:sldMkLst>
          <pc:docMk/>
          <pc:sldMk cId="3773450125" sldId="369"/>
        </pc:sldMkLst>
        <pc:spChg chg="mod">
          <ac:chgData name="James Edgar McCutcheon" userId="7f873ef2-5165-4f07-9a0f-a18721295519" providerId="ADAL" clId="{042E2793-3DC5-4CE9-BA91-01603716AA59}" dt="2026-09-21T07:14:13.824" v="30" actId="20577"/>
          <ac:spMkLst>
            <pc:docMk/>
            <pc:sldMk cId="3773450125" sldId="369"/>
            <ac:spMk id="2" creationId="{391E9B52-A97F-329B-E0EF-315D6739806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BDEBCC-DADE-4D5B-807B-1024A7C7612A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0EAC28-5BE4-48BA-84FA-699EE6699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9241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AAD82-D7E8-A45D-0CF8-15ADACEC2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682A59-4DA0-1050-0074-6EB1180ED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20EF2-398A-3CE0-79DC-388A02851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5C8BC-276B-51DF-EB60-E8DC73E39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1FED7-9749-FE0B-2CBB-EBD8F1A8B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483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65290-FD21-D99B-8FE2-316A3A3B4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D1B58-8D60-9E8E-BA61-39200FCD8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36AB-FF36-6C2D-C0BE-AA5E862DF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CCB8F-1863-DD6E-255D-D67AADE86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46C91-CF55-D6F4-26FA-D287D3DA2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4063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8F722-6A23-F6AB-07BB-53E993B9A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9F66F-8870-7512-6660-16CF9520C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D039B-AC6F-FD23-9FC3-D164F8CE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41944-9128-7C51-90E2-B2D681C3A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4076C-E335-A21B-8891-455046F0C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0343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95C99-C112-B335-3465-434FE7789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1DBD8-18B3-9BD3-68C7-4D3D1AD03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F2CF5F-2255-6376-7068-3E47E2C5D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82C8D-0C04-DF58-83F5-61A08D99B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07E76-234A-A413-963C-E2BD968D9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EB562C-D1DE-DA77-E329-3F8F31F42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226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57689-F5BE-C060-AED9-53C0AB42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F4071-CE58-A9A8-C51A-389FEE8B1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6C5E5-EB89-AFE5-6D3B-31FE53A1E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690D6D-D7D5-BED4-05EF-221F3B4987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F54D61-BCBC-CFC4-2444-8BC7FD224A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8CD938-4A96-21BA-5E9F-A64F95772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EFED9C-575F-AF5A-1931-77AB57EC2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12203B-34EA-8D91-566B-CB816EFA1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8993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31D34-F161-1346-28D7-F38504C6C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CD7C51-1225-5521-EC27-D6FE394A6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55CD71-9BC2-E71E-C9F6-E2B5F59BC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3EE2BA-3AC5-6EBD-DB78-AFBE98FE9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7962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4297C3-5E98-D8A0-7F9A-91EE99421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C4BD4D-1B9C-1FFD-46E0-150AD196A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3BE82-C4D5-D05F-3541-0301D6A76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9171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4839E-AFFB-ADA7-1FF7-5F0838E16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2902E-7517-3153-F1D3-652EB9AD6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C63D3E-C154-D735-4C66-96712EECA1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03ABF3-DEEC-5B45-AB57-1D2FF2D8C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9AE7FB-2181-D9B8-CD6B-62080193F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048E27-C906-A6CB-C594-55FF70ABB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95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46F25-9AD6-FAB9-6A27-4F9B887FE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80C378-4ADE-67E0-0C21-FD0A8C2E40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777F1A-A2F3-DA17-3BC7-6EAD31800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2754EC-A523-61E8-84FC-D429B0B41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091981-0728-DFAB-5460-762D61CD0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2E4F5-B3F7-B0BA-2537-04E116F3C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1405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FC1B1-3363-B008-45CA-B8ADF4A94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E63C55-0F70-8DE7-3753-294CCF55D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EF07C-71F2-804F-F459-8C10C37AB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6DC93-F1EB-474F-5CBD-83B8220E4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2727A-0AAE-0C01-D1A8-FC24FD697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809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481A65-2BBB-8015-92A7-87A75616F6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54EDDF-6374-80ED-522D-AFCD62C0A5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E6C85-00FC-819C-659C-E0CD4107C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8C564-E108-6F46-3D77-9BA012A24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C9C55-7388-5872-FFB2-B5E8B336A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4457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3EABC2-38AB-6ECC-ADD1-822287782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5823F-4351-7751-DD19-3352CF420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24A1D-69F3-E0C6-AA10-168937415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5EDE4-3F96-4F90-8284-A84A4A01A4EA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2280B-0FAB-80C6-38C7-19E34E2F25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F4C67-0ACA-E9D6-EA32-02E3E799E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9200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lauswilke.com/dataviz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hart&#10;&#10;Description automatically generated">
            <a:extLst>
              <a:ext uri="{FF2B5EF4-FFF2-40B4-BE49-F238E27FC236}">
                <a16:creationId xmlns:a16="http://schemas.microsoft.com/office/drawing/2014/main" id="{5BB05982-3E35-1738-8F45-22D2B850B6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71" r="9089" b="15706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2CB861-1161-A2B4-7F33-CE37DE120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1122363"/>
            <a:ext cx="4951976" cy="3204134"/>
          </a:xfrm>
        </p:spPr>
        <p:txBody>
          <a:bodyPr anchor="b">
            <a:normAutofit fontScale="90000"/>
          </a:bodyPr>
          <a:lstStyle/>
          <a:p>
            <a:pPr algn="l">
              <a:lnSpc>
                <a:spcPct val="120000"/>
              </a:lnSpc>
            </a:pPr>
            <a:r>
              <a:rPr lang="nb-NO" sz="3600">
                <a:latin typeface="Gameplay" panose="00000400000000000000" pitchFamily="2" charset="0"/>
                <a:cs typeface="Courier New" panose="02070309020205020404" pitchFamily="49" charset="0"/>
              </a:rPr>
              <a:t>Programming and Data Visualization for Researchers</a:t>
            </a:r>
            <a:br>
              <a:rPr lang="nb-NO" sz="3600">
                <a:latin typeface="Gameplay" panose="00000400000000000000" pitchFamily="2" charset="0"/>
                <a:cs typeface="Courier New" panose="02070309020205020404" pitchFamily="49" charset="0"/>
              </a:rPr>
            </a:br>
            <a:r>
              <a:rPr lang="nb-NO" sz="3600">
                <a:latin typeface="Gameplay" panose="00000400000000000000" pitchFamily="2" charset="0"/>
                <a:cs typeface="Courier New" panose="02070309020205020404" pitchFamily="49" charset="0"/>
              </a:rPr>
              <a:t>[HEL-8048 /</a:t>
            </a:r>
            <a:br>
              <a:rPr lang="nb-NO" sz="3600">
                <a:latin typeface="Gameplay" panose="00000400000000000000" pitchFamily="2" charset="0"/>
                <a:cs typeface="Courier New" panose="02070309020205020404" pitchFamily="49" charset="0"/>
              </a:rPr>
            </a:br>
            <a:r>
              <a:rPr lang="nb-NO" sz="3600">
                <a:latin typeface="Gameplay" panose="00000400000000000000" pitchFamily="2" charset="0"/>
                <a:cs typeface="Courier New" panose="02070309020205020404" pitchFamily="49" charset="0"/>
              </a:rPr>
              <a:t>PSY-3035] </a:t>
            </a:r>
            <a:endParaRPr lang="en-GB" sz="3600">
              <a:latin typeface="Gameplay" panose="00000400000000000000" pitchFamily="2" charset="0"/>
              <a:cs typeface="Courier New" panose="020703090202050204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9B11E9-5C2F-87E3-6436-5CF526B6A8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85000" lnSpcReduction="10000"/>
          </a:bodyPr>
          <a:lstStyle/>
          <a:p>
            <a:pPr algn="l">
              <a:lnSpc>
                <a:spcPct val="120000"/>
              </a:lnSpc>
            </a:pPr>
            <a:r>
              <a:rPr lang="nb-NO" sz="2800" b="1">
                <a:latin typeface="Gameplay" panose="00000400000000000000" pitchFamily="2" charset="0"/>
              </a:rPr>
              <a:t>James McCutcheon</a:t>
            </a:r>
          </a:p>
          <a:p>
            <a:pPr algn="l"/>
            <a:r>
              <a:rPr lang="nb-NO" sz="2800" b="1">
                <a:latin typeface="Gameplay" panose="00000400000000000000" pitchFamily="2" charset="0"/>
              </a:rPr>
              <a:t>IPS / Helsefak</a:t>
            </a:r>
            <a:endParaRPr lang="en-GB" sz="2800" b="1">
              <a:latin typeface="Gameplay" panose="00000400000000000000" pitchFamily="2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6271E35-F436-B2E8-3B03-F51D03E799FA}"/>
              </a:ext>
            </a:extLst>
          </p:cNvPr>
          <p:cNvSpPr txBox="1">
            <a:spLocks/>
          </p:cNvSpPr>
          <p:nvPr/>
        </p:nvSpPr>
        <p:spPr>
          <a:xfrm>
            <a:off x="6455228" y="696768"/>
            <a:ext cx="2777838" cy="591706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nb-NO" sz="2800" b="1">
                <a:solidFill>
                  <a:schemeClr val="bg1"/>
                </a:solidFill>
                <a:latin typeface="Gameplay" panose="00000400000000000000" pitchFamily="2" charset="0"/>
              </a:rPr>
              <a:t>Workshop 3</a:t>
            </a:r>
            <a:endParaRPr lang="en-GB" sz="2800" b="1">
              <a:solidFill>
                <a:schemeClr val="bg1"/>
              </a:solidFill>
              <a:latin typeface="Gameplay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6111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to data visualisation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2E7B5A-947B-A3B0-01F4-9CCE2CEAEBF6}"/>
              </a:ext>
            </a:extLst>
          </p:cNvPr>
          <p:cNvSpPr txBox="1">
            <a:spLocks/>
          </p:cNvSpPr>
          <p:nvPr/>
        </p:nvSpPr>
        <p:spPr>
          <a:xfrm>
            <a:off x="838200" y="1604922"/>
            <a:ext cx="10515600" cy="34457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The content of this short lecture is based extensively on </a:t>
            </a:r>
            <a:r>
              <a:rPr lang="en-US" i="1">
                <a:cs typeface="Courier New" panose="02070309020205020404" pitchFamily="49" charset="0"/>
              </a:rPr>
              <a:t>Fundamentals of Data Visualization</a:t>
            </a:r>
            <a:r>
              <a:rPr lang="en-US">
                <a:cs typeface="Courier New" panose="02070309020205020404" pitchFamily="49" charset="0"/>
              </a:rPr>
              <a:t> by Claus O Wilke, which is freely available online</a:t>
            </a:r>
          </a:p>
          <a:p>
            <a:pPr lvl="1"/>
            <a:r>
              <a:rPr lang="en-US">
                <a:cs typeface="Courier New" panose="02070309020205020404" pitchFamily="49" charset="0"/>
                <a:hlinkClick r:id="rId2"/>
              </a:rPr>
              <a:t>https://clauswilke.com/dataviz/</a:t>
            </a:r>
            <a:endParaRPr lang="en-US">
              <a:cs typeface="Courier New" panose="02070309020205020404" pitchFamily="49" charset="0"/>
            </a:endParaRPr>
          </a:p>
          <a:p>
            <a:pPr lvl="1"/>
            <a:endParaRPr lang="en-US">
              <a:cs typeface="Courier New" panose="02070309020205020404" pitchFamily="49" charset="0"/>
            </a:endParaRPr>
          </a:p>
          <a:p>
            <a:r>
              <a:rPr lang="en-US">
                <a:cs typeface="Courier New" panose="02070309020205020404" pitchFamily="49" charset="0"/>
              </a:rPr>
              <a:t>I strongly recommend that everybody takes the time to read through the whole book. It is well-written, beautifully presented and not too long.</a:t>
            </a:r>
          </a:p>
        </p:txBody>
      </p:sp>
    </p:spTree>
    <p:extLst>
      <p:ext uri="{BB962C8B-B14F-4D97-AF65-F5344CB8AC3E}">
        <p14:creationId xmlns:p14="http://schemas.microsoft.com/office/powerpoint/2010/main" val="2697002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Important foundations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2E7B5A-947B-A3B0-01F4-9CCE2CEAEBF6}"/>
              </a:ext>
            </a:extLst>
          </p:cNvPr>
          <p:cNvSpPr txBox="1">
            <a:spLocks/>
          </p:cNvSpPr>
          <p:nvPr/>
        </p:nvSpPr>
        <p:spPr>
          <a:xfrm>
            <a:off x="838200" y="1604922"/>
            <a:ext cx="10515600" cy="41672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Data visualization is part </a:t>
            </a:r>
            <a:r>
              <a:rPr lang="en-US" b="1">
                <a:cs typeface="Courier New" panose="02070309020205020404" pitchFamily="49" charset="0"/>
              </a:rPr>
              <a:t>art</a:t>
            </a:r>
            <a:r>
              <a:rPr lang="en-US">
                <a:cs typeface="Courier New" panose="02070309020205020404" pitchFamily="49" charset="0"/>
              </a:rPr>
              <a:t> and part </a:t>
            </a:r>
            <a:r>
              <a:rPr lang="en-US" b="1">
                <a:cs typeface="Courier New" panose="02070309020205020404" pitchFamily="49" charset="0"/>
              </a:rPr>
              <a:t>science</a:t>
            </a:r>
          </a:p>
          <a:p>
            <a:pPr lvl="1"/>
            <a:r>
              <a:rPr lang="en-US" i="1">
                <a:cs typeface="Courier New" panose="02070309020205020404" pitchFamily="49" charset="0"/>
              </a:rPr>
              <a:t>The challenge is to get the art right without getting the science wrong!</a:t>
            </a:r>
          </a:p>
          <a:p>
            <a:pPr lvl="1"/>
            <a:endParaRPr lang="en-US" i="1">
              <a:cs typeface="Courier New" panose="02070309020205020404" pitchFamily="49" charset="0"/>
            </a:endParaRPr>
          </a:p>
          <a:p>
            <a:r>
              <a:rPr lang="en-US">
                <a:cs typeface="Courier New" panose="02070309020205020404" pitchFamily="49" charset="0"/>
              </a:rPr>
              <a:t>A data visualization has to accurately convey the data without misleading or distorting</a:t>
            </a:r>
          </a:p>
          <a:p>
            <a:pPr lvl="1"/>
            <a:r>
              <a:rPr lang="en-US">
                <a:cs typeface="Courier New" panose="02070309020205020404" pitchFamily="49" charset="0"/>
              </a:rPr>
              <a:t>If one number is twice as big as another then it should look twice as big</a:t>
            </a:r>
          </a:p>
          <a:p>
            <a:pPr lvl="1"/>
            <a:endParaRPr lang="en-US">
              <a:cs typeface="Courier New" panose="02070309020205020404" pitchFamily="49" charset="0"/>
            </a:endParaRPr>
          </a:p>
          <a:p>
            <a:r>
              <a:rPr lang="en-US">
                <a:cs typeface="Courier New" panose="02070309020205020404" pitchFamily="49" charset="0"/>
              </a:rPr>
              <a:t>Good data visualizations should enhance the message, not distract from it</a:t>
            </a:r>
          </a:p>
        </p:txBody>
      </p:sp>
    </p:spTree>
    <p:extLst>
      <p:ext uri="{BB962C8B-B14F-4D97-AF65-F5344CB8AC3E}">
        <p14:creationId xmlns:p14="http://schemas.microsoft.com/office/powerpoint/2010/main" val="1737266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Ugly, bad and wrong figures 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05E945-1D9B-65CC-843F-FF661F64A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093" y="2030908"/>
            <a:ext cx="7440063" cy="42677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F0BC06-36CC-2619-FD89-5867FD461030}"/>
              </a:ext>
            </a:extLst>
          </p:cNvPr>
          <p:cNvSpPr txBox="1"/>
          <p:nvPr/>
        </p:nvSpPr>
        <p:spPr>
          <a:xfrm>
            <a:off x="728663" y="2636044"/>
            <a:ext cx="41505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Ugly</a:t>
            </a:r>
            <a:r>
              <a:rPr lang="en-US"/>
              <a:t> - </a:t>
            </a:r>
            <a:r>
              <a:rPr lang="en-GB"/>
              <a:t>A figure that has aesthetic problems but otherwise is clear and informative.</a:t>
            </a:r>
          </a:p>
          <a:p>
            <a:endParaRPr lang="en-GB"/>
          </a:p>
          <a:p>
            <a:r>
              <a:rPr lang="en-GB" b="1"/>
              <a:t>Bad</a:t>
            </a:r>
            <a:r>
              <a:rPr lang="en-GB"/>
              <a:t> - A figure that has problems related to perception; it may be unclear, confusing, overly complicated, or deceiving.</a:t>
            </a:r>
          </a:p>
          <a:p>
            <a:endParaRPr lang="en-GB"/>
          </a:p>
          <a:p>
            <a:r>
              <a:rPr lang="en-GB" b="1"/>
              <a:t>Wrong</a:t>
            </a:r>
            <a:r>
              <a:rPr lang="en-GB"/>
              <a:t> - A figure that has problems related to mathematics; it is objectively incorrect.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3D8703-C734-6019-D0B9-B3BCB274EF76}"/>
              </a:ext>
            </a:extLst>
          </p:cNvPr>
          <p:cNvSpPr/>
          <p:nvPr/>
        </p:nvSpPr>
        <p:spPr>
          <a:xfrm>
            <a:off x="8279606" y="1957388"/>
            <a:ext cx="2993232" cy="22074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F086DA-D28C-03CF-C8F3-6F6BBDD8B5DC}"/>
              </a:ext>
            </a:extLst>
          </p:cNvPr>
          <p:cNvSpPr/>
          <p:nvPr/>
        </p:nvSpPr>
        <p:spPr>
          <a:xfrm>
            <a:off x="8360568" y="4128046"/>
            <a:ext cx="2993232" cy="22074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BD234A-3BAC-D103-8B71-85BD5589E773}"/>
              </a:ext>
            </a:extLst>
          </p:cNvPr>
          <p:cNvSpPr/>
          <p:nvPr/>
        </p:nvSpPr>
        <p:spPr>
          <a:xfrm>
            <a:off x="5286374" y="4091286"/>
            <a:ext cx="2993232" cy="22074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6002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Aesthetics and data types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2E7B5A-947B-A3B0-01F4-9CCE2CEAEBF6}"/>
              </a:ext>
            </a:extLst>
          </p:cNvPr>
          <p:cNvSpPr txBox="1">
            <a:spLocks/>
          </p:cNvSpPr>
          <p:nvPr/>
        </p:nvSpPr>
        <p:spPr>
          <a:xfrm>
            <a:off x="838200" y="1604922"/>
            <a:ext cx="10515600" cy="14811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The data that we want to represent can come in different types, e.g. continuous, discrete, categorical etc…</a:t>
            </a:r>
          </a:p>
          <a:p>
            <a:r>
              <a:rPr lang="en-US">
                <a:cs typeface="Courier New" panose="02070309020205020404" pitchFamily="49" charset="0"/>
              </a:rPr>
              <a:t>Different </a:t>
            </a:r>
            <a:r>
              <a:rPr lang="en-US" b="1">
                <a:cs typeface="Courier New" panose="02070309020205020404" pitchFamily="49" charset="0"/>
              </a:rPr>
              <a:t>aesthetics</a:t>
            </a:r>
            <a:r>
              <a:rPr lang="en-US">
                <a:cs typeface="Courier New" panose="02070309020205020404" pitchFamily="49" charset="0"/>
              </a:rPr>
              <a:t> can be used to represent different data types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B522C7-9D41-60D6-95F6-0B95042A9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7431"/>
            <a:ext cx="5772956" cy="24292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30986C-612C-69BB-DE75-290BC5A149EF}"/>
              </a:ext>
            </a:extLst>
          </p:cNvPr>
          <p:cNvSpPr txBox="1"/>
          <p:nvPr/>
        </p:nvSpPr>
        <p:spPr>
          <a:xfrm>
            <a:off x="6915152" y="4057650"/>
            <a:ext cx="40290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Which of these aesthetics can be used to represent continuous data?</a:t>
            </a:r>
            <a:endParaRPr lang="en-GB" sz="2800"/>
          </a:p>
        </p:txBody>
      </p:sp>
    </p:spTree>
    <p:extLst>
      <p:ext uri="{BB962C8B-B14F-4D97-AF65-F5344CB8AC3E}">
        <p14:creationId xmlns:p14="http://schemas.microsoft.com/office/powerpoint/2010/main" val="1919179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Coordinate systems and axes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2E7B5A-947B-A3B0-01F4-9CCE2CEAEBF6}"/>
              </a:ext>
            </a:extLst>
          </p:cNvPr>
          <p:cNvSpPr txBox="1">
            <a:spLocks/>
          </p:cNvSpPr>
          <p:nvPr/>
        </p:nvSpPr>
        <p:spPr>
          <a:xfrm>
            <a:off x="838200" y="2024167"/>
            <a:ext cx="5584031" cy="42194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Position scales are critical for any data visualization as they determine where different data will be located</a:t>
            </a:r>
          </a:p>
          <a:p>
            <a:r>
              <a:rPr lang="en-US">
                <a:cs typeface="Courier New" panose="02070309020205020404" pitchFamily="49" charset="0"/>
              </a:rPr>
              <a:t>For example, in a 2d figure we use two numbers to specify a point and so two scales are needed</a:t>
            </a:r>
          </a:p>
          <a:p>
            <a:pPr lvl="1"/>
            <a:r>
              <a:rPr lang="en-US">
                <a:cs typeface="Courier New" panose="02070309020205020404" pitchFamily="49" charset="0"/>
              </a:rPr>
              <a:t>Usually an </a:t>
            </a:r>
            <a:r>
              <a:rPr lang="en-US" b="1" i="1">
                <a:cs typeface="Courier New" panose="02070309020205020404" pitchFamily="49" charset="0"/>
              </a:rPr>
              <a:t>x</a:t>
            </a:r>
            <a:r>
              <a:rPr lang="en-US">
                <a:cs typeface="Courier New" panose="02070309020205020404" pitchFamily="49" charset="0"/>
              </a:rPr>
              <a:t> and </a:t>
            </a:r>
            <a:r>
              <a:rPr lang="en-US" b="1" i="1">
                <a:cs typeface="Courier New" panose="02070309020205020404" pitchFamily="49" charset="0"/>
              </a:rPr>
              <a:t>y</a:t>
            </a:r>
            <a:r>
              <a:rPr lang="en-US">
                <a:cs typeface="Courier New" panose="02070309020205020404" pitchFamily="49" charset="0"/>
              </a:rPr>
              <a:t> axis, arranged horizontally and vertically, although does not have to be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2982C5-88B2-3058-1972-54297E3AB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449" y="2109934"/>
            <a:ext cx="4741477" cy="37144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DE594A-E92B-0E22-C458-7992F460FBDC}"/>
              </a:ext>
            </a:extLst>
          </p:cNvPr>
          <p:cNvSpPr txBox="1"/>
          <p:nvPr/>
        </p:nvSpPr>
        <p:spPr>
          <a:xfrm>
            <a:off x="7390983" y="6058928"/>
            <a:ext cx="4018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Standard 2d Cartesian coordinate system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3076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Coordinate systems and axes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2E7B5A-947B-A3B0-01F4-9CCE2CEAEBF6}"/>
              </a:ext>
            </a:extLst>
          </p:cNvPr>
          <p:cNvSpPr txBox="1">
            <a:spLocks/>
          </p:cNvSpPr>
          <p:nvPr/>
        </p:nvSpPr>
        <p:spPr>
          <a:xfrm>
            <a:off x="838200" y="2024168"/>
            <a:ext cx="5584031" cy="3705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If different units are on each axis then you are free to change the size to make sure important differences are noticeable</a:t>
            </a:r>
          </a:p>
          <a:p>
            <a:endParaRPr lang="en-US">
              <a:cs typeface="Courier New" panose="020703090202050204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03C816-F40B-AFC0-8C8A-3540F2470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888" y="2235993"/>
            <a:ext cx="5270843" cy="35912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6810C2-9F37-3F13-2799-2A4C1F26561D}"/>
              </a:ext>
            </a:extLst>
          </p:cNvPr>
          <p:cNvSpPr txBox="1"/>
          <p:nvPr/>
        </p:nvSpPr>
        <p:spPr>
          <a:xfrm>
            <a:off x="7865268" y="6003240"/>
            <a:ext cx="2961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Daily temperature in Houston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496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Coordinate systems and axes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2E7B5A-947B-A3B0-01F4-9CCE2CEAEBF6}"/>
              </a:ext>
            </a:extLst>
          </p:cNvPr>
          <p:cNvSpPr txBox="1">
            <a:spLocks/>
          </p:cNvSpPr>
          <p:nvPr/>
        </p:nvSpPr>
        <p:spPr>
          <a:xfrm>
            <a:off x="838200" y="2024168"/>
            <a:ext cx="5584031" cy="3705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If different units are on each axis then you are free to change the size to make sure important differences are noticeable</a:t>
            </a:r>
          </a:p>
          <a:p>
            <a:endParaRPr lang="en-US">
              <a:cs typeface="Courier New" panose="02070309020205020404" pitchFamily="49" charset="0"/>
            </a:endParaRPr>
          </a:p>
          <a:p>
            <a:r>
              <a:rPr lang="en-US">
                <a:cs typeface="Courier New" panose="02070309020205020404" pitchFamily="49" charset="0"/>
              </a:rPr>
              <a:t>If same units are on both axes then the spacings must be equal or it would distort the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6810C2-9F37-3F13-2799-2A4C1F26561D}"/>
              </a:ext>
            </a:extLst>
          </p:cNvPr>
          <p:cNvSpPr txBox="1"/>
          <p:nvPr/>
        </p:nvSpPr>
        <p:spPr>
          <a:xfrm>
            <a:off x="7751682" y="5981468"/>
            <a:ext cx="33833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Daily temperature in Houston vs. daily temperature in San Diego</a:t>
            </a:r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38475E-5BE5-9D36-AC3F-C6BD0652A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664" y="2052125"/>
            <a:ext cx="3734321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145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Non-linear axes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2E7B5A-947B-A3B0-01F4-9CCE2CEAEBF6}"/>
              </a:ext>
            </a:extLst>
          </p:cNvPr>
          <p:cNvSpPr txBox="1">
            <a:spLocks/>
          </p:cNvSpPr>
          <p:nvPr/>
        </p:nvSpPr>
        <p:spPr>
          <a:xfrm>
            <a:off x="838200" y="2024168"/>
            <a:ext cx="10323286" cy="35479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So far we have looked at </a:t>
            </a:r>
            <a:r>
              <a:rPr lang="en-US" b="1">
                <a:cs typeface="Courier New" panose="02070309020205020404" pitchFamily="49" charset="0"/>
              </a:rPr>
              <a:t>linear</a:t>
            </a:r>
            <a:r>
              <a:rPr lang="en-US">
                <a:cs typeface="Courier New" panose="02070309020205020404" pitchFamily="49" charset="0"/>
              </a:rPr>
              <a:t> axes where data are evenly-spaced along the axis</a:t>
            </a:r>
          </a:p>
          <a:p>
            <a:endParaRPr lang="en-US">
              <a:cs typeface="Courier New" panose="02070309020205020404" pitchFamily="49" charset="0"/>
            </a:endParaRPr>
          </a:p>
          <a:p>
            <a:r>
              <a:rPr lang="en-US">
                <a:cs typeface="Courier New" panose="02070309020205020404" pitchFamily="49" charset="0"/>
              </a:rPr>
              <a:t>On </a:t>
            </a:r>
            <a:r>
              <a:rPr lang="en-US" b="1">
                <a:cs typeface="Courier New" panose="02070309020205020404" pitchFamily="49" charset="0"/>
              </a:rPr>
              <a:t>non-linear</a:t>
            </a:r>
            <a:r>
              <a:rPr lang="en-US">
                <a:cs typeface="Courier New" panose="02070309020205020404" pitchFamily="49" charset="0"/>
              </a:rPr>
              <a:t> axes, data is </a:t>
            </a:r>
            <a:r>
              <a:rPr lang="en-US" b="1" i="1">
                <a:cs typeface="Courier New" panose="02070309020205020404" pitchFamily="49" charset="0"/>
              </a:rPr>
              <a:t>not</a:t>
            </a:r>
            <a:r>
              <a:rPr lang="en-US">
                <a:cs typeface="Courier New" panose="02070309020205020404" pitchFamily="49" charset="0"/>
              </a:rPr>
              <a:t> evenly spaced along the axis</a:t>
            </a:r>
          </a:p>
          <a:p>
            <a:endParaRPr lang="en-US">
              <a:cs typeface="Courier New" panose="02070309020205020404" pitchFamily="49" charset="0"/>
            </a:endParaRPr>
          </a:p>
          <a:p>
            <a:r>
              <a:rPr lang="en-US">
                <a:cs typeface="Courier New" panose="02070309020205020404" pitchFamily="49" charset="0"/>
              </a:rPr>
              <a:t>This can help to compress the data so that very large and/or very small numbers can be accurately visualized in the same figure</a:t>
            </a:r>
          </a:p>
          <a:p>
            <a:pPr marL="0" indent="0">
              <a:buNone/>
            </a:pPr>
            <a:endParaRPr lang="en-US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600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5EA461-3357-3E1A-F2EB-0466CFDD5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4717"/>
            <a:ext cx="7097115" cy="40486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31E4C8-83A9-8283-EAD9-7D7674E742AD}"/>
              </a:ext>
            </a:extLst>
          </p:cNvPr>
          <p:cNvSpPr txBox="1"/>
          <p:nvPr/>
        </p:nvSpPr>
        <p:spPr>
          <a:xfrm>
            <a:off x="8479972" y="3231129"/>
            <a:ext cx="3305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Very difficult to see most of the data in this figure</a:t>
            </a:r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EABE591-3D19-D40E-41AC-0EB553CE8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7098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Non-linear axes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2E7B5A-947B-A3B0-01F4-9CCE2CEAEBF6}"/>
              </a:ext>
            </a:extLst>
          </p:cNvPr>
          <p:cNvSpPr txBox="1">
            <a:spLocks/>
          </p:cNvSpPr>
          <p:nvPr/>
        </p:nvSpPr>
        <p:spPr>
          <a:xfrm>
            <a:off x="838200" y="2024168"/>
            <a:ext cx="10323286" cy="1662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cs typeface="Courier New" panose="02070309020205020404" pitchFamily="49" charset="0"/>
              </a:rPr>
              <a:t>Logarithmic</a:t>
            </a:r>
            <a:r>
              <a:rPr lang="en-US">
                <a:cs typeface="Courier New" panose="02070309020205020404" pitchFamily="49" charset="0"/>
              </a:rPr>
              <a:t> (log) axes are the most common non-linear axis</a:t>
            </a:r>
          </a:p>
          <a:p>
            <a:endParaRPr lang="en-US">
              <a:cs typeface="Courier New" panose="02070309020205020404" pitchFamily="49" charset="0"/>
            </a:endParaRPr>
          </a:p>
          <a:p>
            <a:r>
              <a:rPr lang="en-US">
                <a:cs typeface="Courier New" panose="02070309020205020404" pitchFamily="49" charset="0"/>
              </a:rPr>
              <a:t>Fo example, </a:t>
            </a:r>
            <a:r>
              <a:rPr lang="en-US" b="1">
                <a:cs typeface="Courier New" panose="02070309020205020404" pitchFamily="49" charset="0"/>
              </a:rPr>
              <a:t>log</a:t>
            </a:r>
            <a:r>
              <a:rPr lang="en-US" b="1" baseline="-25000">
                <a:cs typeface="Courier New" panose="02070309020205020404" pitchFamily="49" charset="0"/>
              </a:rPr>
              <a:t>10</a:t>
            </a:r>
            <a:r>
              <a:rPr lang="en-US">
                <a:cs typeface="Courier New" panose="02070309020205020404" pitchFamily="49" charset="0"/>
              </a:rPr>
              <a:t> (spoken as log base 10) converts data as…</a:t>
            </a:r>
          </a:p>
          <a:p>
            <a:pPr marL="0" indent="0">
              <a:buNone/>
            </a:pPr>
            <a:endParaRPr lang="en-US"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40D13C-F9FC-BF13-5242-5A88F5DF69C5}"/>
              </a:ext>
            </a:extLst>
          </p:cNvPr>
          <p:cNvSpPr txBox="1"/>
          <p:nvPr/>
        </p:nvSpPr>
        <p:spPr>
          <a:xfrm>
            <a:off x="983524" y="4055508"/>
            <a:ext cx="258068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3</a:t>
            </a:r>
            <a:r>
              <a:rPr lang="en-US" sz="2400">
                <a:cs typeface="Courier New" panose="02070309020205020404" pitchFamily="49" charset="0"/>
              </a:rPr>
              <a:t> = 1000</a:t>
            </a:r>
          </a:p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2</a:t>
            </a:r>
            <a:r>
              <a:rPr lang="en-US" sz="2400">
                <a:cs typeface="Courier New" panose="02070309020205020404" pitchFamily="49" charset="0"/>
              </a:rPr>
              <a:t> = 100</a:t>
            </a:r>
          </a:p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1</a:t>
            </a:r>
            <a:r>
              <a:rPr lang="en-US" sz="2400">
                <a:cs typeface="Courier New" panose="02070309020205020404" pitchFamily="49" charset="0"/>
              </a:rPr>
              <a:t> = 10</a:t>
            </a:r>
          </a:p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0</a:t>
            </a:r>
            <a:r>
              <a:rPr lang="en-US" sz="2400">
                <a:cs typeface="Courier New" panose="02070309020205020404" pitchFamily="49" charset="0"/>
              </a:rPr>
              <a:t> = 1</a:t>
            </a:r>
          </a:p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-1</a:t>
            </a:r>
            <a:r>
              <a:rPr lang="en-US" sz="2400">
                <a:cs typeface="Courier New" panose="02070309020205020404" pitchFamily="49" charset="0"/>
              </a:rPr>
              <a:t> = 0.1</a:t>
            </a:r>
          </a:p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-2</a:t>
            </a:r>
            <a:r>
              <a:rPr lang="en-US" sz="2400">
                <a:cs typeface="Courier New" panose="02070309020205020404" pitchFamily="49" charset="0"/>
              </a:rPr>
              <a:t> = 0.01</a:t>
            </a:r>
          </a:p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-3</a:t>
            </a:r>
            <a:r>
              <a:rPr lang="en-US" sz="2400">
                <a:cs typeface="Courier New" panose="02070309020205020404" pitchFamily="49" charset="0"/>
              </a:rPr>
              <a:t> = 0.001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7F9B3F-9E1E-CF4F-579E-B2F43727DDDB}"/>
              </a:ext>
            </a:extLst>
          </p:cNvPr>
          <p:cNvSpPr txBox="1"/>
          <p:nvPr/>
        </p:nvSpPr>
        <p:spPr>
          <a:xfrm>
            <a:off x="5229225" y="4622007"/>
            <a:ext cx="66008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Using a log scale we can now show very big and very small numbers in the same figure</a:t>
            </a:r>
            <a:endParaRPr lang="en-GB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8B7255-6F32-0A17-2366-C99F079FDEE8}"/>
              </a:ext>
            </a:extLst>
          </p:cNvPr>
          <p:cNvSpPr txBox="1"/>
          <p:nvPr/>
        </p:nvSpPr>
        <p:spPr>
          <a:xfrm>
            <a:off x="3424428" y="3764760"/>
            <a:ext cx="11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Exponents</a:t>
            </a:r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3D182F-52F0-71F3-2F90-A6ED6073F337}"/>
              </a:ext>
            </a:extLst>
          </p:cNvPr>
          <p:cNvSpPr txBox="1"/>
          <p:nvPr/>
        </p:nvSpPr>
        <p:spPr>
          <a:xfrm>
            <a:off x="3615731" y="4055508"/>
            <a:ext cx="78098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/>
              <a:t>3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/>
              <a:t>2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/>
              <a:t>1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/>
              <a:t>0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/>
              <a:t>-1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/>
              <a:t>-2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/>
              <a:t>-3</a:t>
            </a: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2131077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Non-linear axes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5EA461-3357-3E1A-F2EB-0466CFDD5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4717"/>
            <a:ext cx="7097115" cy="40486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2531C1-69DD-6BE5-DCFD-B9CD817A268A}"/>
              </a:ext>
            </a:extLst>
          </p:cNvPr>
          <p:cNvSpPr txBox="1"/>
          <p:nvPr/>
        </p:nvSpPr>
        <p:spPr>
          <a:xfrm>
            <a:off x="8405880" y="2433876"/>
            <a:ext cx="258068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3</a:t>
            </a:r>
            <a:r>
              <a:rPr lang="en-US" sz="2400">
                <a:cs typeface="Courier New" panose="02070309020205020404" pitchFamily="49" charset="0"/>
              </a:rPr>
              <a:t> = 1000</a:t>
            </a:r>
          </a:p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2</a:t>
            </a:r>
            <a:r>
              <a:rPr lang="en-US" sz="2400">
                <a:cs typeface="Courier New" panose="02070309020205020404" pitchFamily="49" charset="0"/>
              </a:rPr>
              <a:t> = 100</a:t>
            </a:r>
          </a:p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1</a:t>
            </a:r>
            <a:r>
              <a:rPr lang="en-US" sz="2400">
                <a:cs typeface="Courier New" panose="02070309020205020404" pitchFamily="49" charset="0"/>
              </a:rPr>
              <a:t> = 10</a:t>
            </a:r>
          </a:p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0</a:t>
            </a:r>
            <a:r>
              <a:rPr lang="en-US" sz="2400">
                <a:cs typeface="Courier New" panose="02070309020205020404" pitchFamily="49" charset="0"/>
              </a:rPr>
              <a:t> = 1</a:t>
            </a:r>
          </a:p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-1</a:t>
            </a:r>
            <a:r>
              <a:rPr lang="en-US" sz="2400">
                <a:cs typeface="Courier New" panose="02070309020205020404" pitchFamily="49" charset="0"/>
              </a:rPr>
              <a:t> = 0.1</a:t>
            </a:r>
          </a:p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-2</a:t>
            </a:r>
            <a:r>
              <a:rPr lang="en-US" sz="2400">
                <a:cs typeface="Courier New" panose="02070309020205020404" pitchFamily="49" charset="0"/>
              </a:rPr>
              <a:t> = 0.01</a:t>
            </a:r>
          </a:p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-2</a:t>
            </a:r>
            <a:r>
              <a:rPr lang="en-US" sz="2400">
                <a:cs typeface="Courier New" panose="02070309020205020404" pitchFamily="49" charset="0"/>
              </a:rPr>
              <a:t> = 0.001</a:t>
            </a:r>
          </a:p>
        </p:txBody>
      </p:sp>
    </p:spTree>
    <p:extLst>
      <p:ext uri="{BB962C8B-B14F-4D97-AF65-F5344CB8AC3E}">
        <p14:creationId xmlns:p14="http://schemas.microsoft.com/office/powerpoint/2010/main" val="944867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Non-linear axes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5EA461-3357-3E1A-F2EB-0466CFDD5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4717"/>
            <a:ext cx="7097115" cy="40486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2531C1-69DD-6BE5-DCFD-B9CD817A268A}"/>
              </a:ext>
            </a:extLst>
          </p:cNvPr>
          <p:cNvSpPr txBox="1"/>
          <p:nvPr/>
        </p:nvSpPr>
        <p:spPr>
          <a:xfrm>
            <a:off x="8405880" y="2433876"/>
            <a:ext cx="258068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3</a:t>
            </a:r>
            <a:r>
              <a:rPr lang="en-US" sz="2400">
                <a:cs typeface="Courier New" panose="02070309020205020404" pitchFamily="49" charset="0"/>
              </a:rPr>
              <a:t> = 1000</a:t>
            </a:r>
          </a:p>
          <a:p>
            <a:pPr lvl="1"/>
            <a:r>
              <a:rPr lang="en-US" sz="2400">
                <a:highlight>
                  <a:srgbClr val="FFFF00"/>
                </a:highlight>
                <a:cs typeface="Courier New" panose="02070309020205020404" pitchFamily="49" charset="0"/>
              </a:rPr>
              <a:t>10</a:t>
            </a:r>
            <a:r>
              <a:rPr lang="en-US" sz="2400" baseline="30000">
                <a:highlight>
                  <a:srgbClr val="FFFF00"/>
                </a:highlight>
                <a:cs typeface="Courier New" panose="02070309020205020404" pitchFamily="49" charset="0"/>
              </a:rPr>
              <a:t>2</a:t>
            </a:r>
            <a:r>
              <a:rPr lang="en-US" sz="2400">
                <a:highlight>
                  <a:srgbClr val="FFFF00"/>
                </a:highlight>
                <a:cs typeface="Courier New" panose="02070309020205020404" pitchFamily="49" charset="0"/>
              </a:rPr>
              <a:t> = 100</a:t>
            </a:r>
          </a:p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1</a:t>
            </a:r>
            <a:r>
              <a:rPr lang="en-US" sz="2400">
                <a:cs typeface="Courier New" panose="02070309020205020404" pitchFamily="49" charset="0"/>
              </a:rPr>
              <a:t> = 10</a:t>
            </a:r>
          </a:p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0</a:t>
            </a:r>
            <a:r>
              <a:rPr lang="en-US" sz="2400">
                <a:cs typeface="Courier New" panose="02070309020205020404" pitchFamily="49" charset="0"/>
              </a:rPr>
              <a:t> = 1</a:t>
            </a:r>
          </a:p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-1</a:t>
            </a:r>
            <a:r>
              <a:rPr lang="en-US" sz="2400">
                <a:cs typeface="Courier New" panose="02070309020205020404" pitchFamily="49" charset="0"/>
              </a:rPr>
              <a:t> = 0.1</a:t>
            </a:r>
          </a:p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-2</a:t>
            </a:r>
            <a:r>
              <a:rPr lang="en-US" sz="2400">
                <a:cs typeface="Courier New" panose="02070309020205020404" pitchFamily="49" charset="0"/>
              </a:rPr>
              <a:t> = 0.01</a:t>
            </a:r>
          </a:p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-2</a:t>
            </a:r>
            <a:r>
              <a:rPr lang="en-US" sz="2400">
                <a:cs typeface="Courier New" panose="02070309020205020404" pitchFamily="49" charset="0"/>
              </a:rPr>
              <a:t> = 0.001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5F9A9E-4659-C3F3-AAE0-0ACDDD1FD81F}"/>
              </a:ext>
            </a:extLst>
          </p:cNvPr>
          <p:cNvSpPr/>
          <p:nvPr/>
        </p:nvSpPr>
        <p:spPr>
          <a:xfrm>
            <a:off x="838200" y="3829050"/>
            <a:ext cx="7184231" cy="342900"/>
          </a:xfrm>
          <a:prstGeom prst="rect">
            <a:avLst/>
          </a:prstGeom>
          <a:solidFill>
            <a:srgbClr val="FFFF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7064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Non-linear axes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5EA461-3357-3E1A-F2EB-0466CFDD5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4717"/>
            <a:ext cx="7097115" cy="40486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2531C1-69DD-6BE5-DCFD-B9CD817A268A}"/>
              </a:ext>
            </a:extLst>
          </p:cNvPr>
          <p:cNvSpPr txBox="1"/>
          <p:nvPr/>
        </p:nvSpPr>
        <p:spPr>
          <a:xfrm>
            <a:off x="8405880" y="2433876"/>
            <a:ext cx="258068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3</a:t>
            </a:r>
            <a:r>
              <a:rPr lang="en-US" sz="2400">
                <a:cs typeface="Courier New" panose="02070309020205020404" pitchFamily="49" charset="0"/>
              </a:rPr>
              <a:t> = 1000</a:t>
            </a:r>
          </a:p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2</a:t>
            </a:r>
            <a:r>
              <a:rPr lang="en-US" sz="2400">
                <a:cs typeface="Courier New" panose="02070309020205020404" pitchFamily="49" charset="0"/>
              </a:rPr>
              <a:t> = 100</a:t>
            </a:r>
          </a:p>
          <a:p>
            <a:pPr lvl="1"/>
            <a:r>
              <a:rPr lang="en-US" sz="2400">
                <a:highlight>
                  <a:srgbClr val="FFFF00"/>
                </a:highlight>
                <a:cs typeface="Courier New" panose="02070309020205020404" pitchFamily="49" charset="0"/>
              </a:rPr>
              <a:t>10</a:t>
            </a:r>
            <a:r>
              <a:rPr lang="en-US" sz="2400" baseline="30000">
                <a:highlight>
                  <a:srgbClr val="FFFF00"/>
                </a:highlight>
                <a:cs typeface="Courier New" panose="02070309020205020404" pitchFamily="49" charset="0"/>
              </a:rPr>
              <a:t>1</a:t>
            </a:r>
            <a:r>
              <a:rPr lang="en-US" sz="2400">
                <a:highlight>
                  <a:srgbClr val="FFFF00"/>
                </a:highlight>
                <a:cs typeface="Courier New" panose="02070309020205020404" pitchFamily="49" charset="0"/>
              </a:rPr>
              <a:t> = 10</a:t>
            </a:r>
          </a:p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0</a:t>
            </a:r>
            <a:r>
              <a:rPr lang="en-US" sz="2400">
                <a:cs typeface="Courier New" panose="02070309020205020404" pitchFamily="49" charset="0"/>
              </a:rPr>
              <a:t> = 1</a:t>
            </a:r>
          </a:p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-1</a:t>
            </a:r>
            <a:r>
              <a:rPr lang="en-US" sz="2400">
                <a:cs typeface="Courier New" panose="02070309020205020404" pitchFamily="49" charset="0"/>
              </a:rPr>
              <a:t> = 0.1</a:t>
            </a:r>
          </a:p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-2</a:t>
            </a:r>
            <a:r>
              <a:rPr lang="en-US" sz="2400">
                <a:cs typeface="Courier New" panose="02070309020205020404" pitchFamily="49" charset="0"/>
              </a:rPr>
              <a:t> = 0.01</a:t>
            </a:r>
          </a:p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-2</a:t>
            </a:r>
            <a:r>
              <a:rPr lang="en-US" sz="2400">
                <a:cs typeface="Courier New" panose="02070309020205020404" pitchFamily="49" charset="0"/>
              </a:rPr>
              <a:t> = 0.001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5F9A9E-4659-C3F3-AAE0-0ACDDD1FD81F}"/>
              </a:ext>
            </a:extLst>
          </p:cNvPr>
          <p:cNvSpPr/>
          <p:nvPr/>
        </p:nvSpPr>
        <p:spPr>
          <a:xfrm>
            <a:off x="794641" y="5218688"/>
            <a:ext cx="7184231" cy="103406"/>
          </a:xfrm>
          <a:prstGeom prst="rect">
            <a:avLst/>
          </a:prstGeom>
          <a:solidFill>
            <a:srgbClr val="FFFF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1338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Non-linear axes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5EA461-3357-3E1A-F2EB-0466CFDD5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4717"/>
            <a:ext cx="7097115" cy="40486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2531C1-69DD-6BE5-DCFD-B9CD817A268A}"/>
              </a:ext>
            </a:extLst>
          </p:cNvPr>
          <p:cNvSpPr txBox="1"/>
          <p:nvPr/>
        </p:nvSpPr>
        <p:spPr>
          <a:xfrm>
            <a:off x="8405880" y="2433876"/>
            <a:ext cx="258068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3</a:t>
            </a:r>
            <a:r>
              <a:rPr lang="en-US" sz="2400">
                <a:cs typeface="Courier New" panose="02070309020205020404" pitchFamily="49" charset="0"/>
              </a:rPr>
              <a:t> = 1000</a:t>
            </a:r>
          </a:p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2</a:t>
            </a:r>
            <a:r>
              <a:rPr lang="en-US" sz="2400">
                <a:cs typeface="Courier New" panose="02070309020205020404" pitchFamily="49" charset="0"/>
              </a:rPr>
              <a:t> = 100</a:t>
            </a:r>
          </a:p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1</a:t>
            </a:r>
            <a:r>
              <a:rPr lang="en-US" sz="2400">
                <a:cs typeface="Courier New" panose="02070309020205020404" pitchFamily="49" charset="0"/>
              </a:rPr>
              <a:t> = 10</a:t>
            </a:r>
          </a:p>
          <a:p>
            <a:pPr lvl="1"/>
            <a:r>
              <a:rPr lang="en-US" sz="2400">
                <a:highlight>
                  <a:srgbClr val="FFFF00"/>
                </a:highlight>
                <a:cs typeface="Courier New" panose="02070309020205020404" pitchFamily="49" charset="0"/>
              </a:rPr>
              <a:t>10</a:t>
            </a:r>
            <a:r>
              <a:rPr lang="en-US" sz="2400" baseline="30000">
                <a:highlight>
                  <a:srgbClr val="FFFF00"/>
                </a:highlight>
                <a:cs typeface="Courier New" panose="02070309020205020404" pitchFamily="49" charset="0"/>
              </a:rPr>
              <a:t>0</a:t>
            </a:r>
            <a:r>
              <a:rPr lang="en-US" sz="2400">
                <a:highlight>
                  <a:srgbClr val="FFFF00"/>
                </a:highlight>
                <a:cs typeface="Courier New" panose="02070309020205020404" pitchFamily="49" charset="0"/>
              </a:rPr>
              <a:t> = 1</a:t>
            </a:r>
          </a:p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-1</a:t>
            </a:r>
            <a:r>
              <a:rPr lang="en-US" sz="2400">
                <a:cs typeface="Courier New" panose="02070309020205020404" pitchFamily="49" charset="0"/>
              </a:rPr>
              <a:t> = 0.1</a:t>
            </a:r>
          </a:p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-2</a:t>
            </a:r>
            <a:r>
              <a:rPr lang="en-US" sz="2400">
                <a:cs typeface="Courier New" panose="02070309020205020404" pitchFamily="49" charset="0"/>
              </a:rPr>
              <a:t> = 0.01</a:t>
            </a:r>
          </a:p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-2</a:t>
            </a:r>
            <a:r>
              <a:rPr lang="en-US" sz="2400">
                <a:cs typeface="Courier New" panose="02070309020205020404" pitchFamily="49" charset="0"/>
              </a:rPr>
              <a:t> = 0.001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5F9A9E-4659-C3F3-AAE0-0ACDDD1FD81F}"/>
              </a:ext>
            </a:extLst>
          </p:cNvPr>
          <p:cNvSpPr/>
          <p:nvPr/>
        </p:nvSpPr>
        <p:spPr>
          <a:xfrm>
            <a:off x="801785" y="5411576"/>
            <a:ext cx="7184231" cy="53394"/>
          </a:xfrm>
          <a:prstGeom prst="rect">
            <a:avLst/>
          </a:prstGeom>
          <a:solidFill>
            <a:srgbClr val="FFFF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3777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Non-linear axes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5EA461-3357-3E1A-F2EB-0466CFDD5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4717"/>
            <a:ext cx="7097115" cy="40486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2531C1-69DD-6BE5-DCFD-B9CD817A268A}"/>
              </a:ext>
            </a:extLst>
          </p:cNvPr>
          <p:cNvSpPr txBox="1"/>
          <p:nvPr/>
        </p:nvSpPr>
        <p:spPr>
          <a:xfrm>
            <a:off x="8405880" y="2433876"/>
            <a:ext cx="258068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3</a:t>
            </a:r>
            <a:r>
              <a:rPr lang="en-US" sz="2400">
                <a:cs typeface="Courier New" panose="02070309020205020404" pitchFamily="49" charset="0"/>
              </a:rPr>
              <a:t> = 1000</a:t>
            </a:r>
          </a:p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2</a:t>
            </a:r>
            <a:r>
              <a:rPr lang="en-US" sz="2400">
                <a:cs typeface="Courier New" panose="02070309020205020404" pitchFamily="49" charset="0"/>
              </a:rPr>
              <a:t> = 100</a:t>
            </a:r>
          </a:p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1</a:t>
            </a:r>
            <a:r>
              <a:rPr lang="en-US" sz="2400">
                <a:cs typeface="Courier New" panose="02070309020205020404" pitchFamily="49" charset="0"/>
              </a:rPr>
              <a:t> = 10</a:t>
            </a:r>
          </a:p>
          <a:p>
            <a:pPr lvl="1"/>
            <a:r>
              <a:rPr lang="en-US" sz="2400">
                <a:cs typeface="Courier New" panose="02070309020205020404" pitchFamily="49" charset="0"/>
              </a:rPr>
              <a:t>10</a:t>
            </a:r>
            <a:r>
              <a:rPr lang="en-US" sz="2400" baseline="30000">
                <a:cs typeface="Courier New" panose="02070309020205020404" pitchFamily="49" charset="0"/>
              </a:rPr>
              <a:t>0</a:t>
            </a:r>
            <a:r>
              <a:rPr lang="en-US" sz="2400">
                <a:cs typeface="Courier New" panose="02070309020205020404" pitchFamily="49" charset="0"/>
              </a:rPr>
              <a:t> = 1</a:t>
            </a:r>
          </a:p>
          <a:p>
            <a:pPr lvl="1"/>
            <a:r>
              <a:rPr lang="en-US" sz="2400">
                <a:highlight>
                  <a:srgbClr val="FFFF00"/>
                </a:highlight>
                <a:cs typeface="Courier New" panose="02070309020205020404" pitchFamily="49" charset="0"/>
              </a:rPr>
              <a:t>10</a:t>
            </a:r>
            <a:r>
              <a:rPr lang="en-US" sz="2400" baseline="30000">
                <a:highlight>
                  <a:srgbClr val="FFFF00"/>
                </a:highlight>
                <a:cs typeface="Courier New" panose="02070309020205020404" pitchFamily="49" charset="0"/>
              </a:rPr>
              <a:t>-1</a:t>
            </a:r>
            <a:r>
              <a:rPr lang="en-US" sz="2400">
                <a:highlight>
                  <a:srgbClr val="FFFF00"/>
                </a:highlight>
                <a:cs typeface="Courier New" panose="02070309020205020404" pitchFamily="49" charset="0"/>
              </a:rPr>
              <a:t> = 0.1</a:t>
            </a:r>
          </a:p>
          <a:p>
            <a:pPr lvl="1"/>
            <a:r>
              <a:rPr lang="en-US" sz="2400">
                <a:highlight>
                  <a:srgbClr val="FFFF00"/>
                </a:highlight>
                <a:cs typeface="Courier New" panose="02070309020205020404" pitchFamily="49" charset="0"/>
              </a:rPr>
              <a:t>10</a:t>
            </a:r>
            <a:r>
              <a:rPr lang="en-US" sz="2400" baseline="30000">
                <a:highlight>
                  <a:srgbClr val="FFFF00"/>
                </a:highlight>
                <a:cs typeface="Courier New" panose="02070309020205020404" pitchFamily="49" charset="0"/>
              </a:rPr>
              <a:t>-2</a:t>
            </a:r>
            <a:r>
              <a:rPr lang="en-US" sz="2400">
                <a:highlight>
                  <a:srgbClr val="FFFF00"/>
                </a:highlight>
                <a:cs typeface="Courier New" panose="02070309020205020404" pitchFamily="49" charset="0"/>
              </a:rPr>
              <a:t> = 0.01</a:t>
            </a:r>
          </a:p>
          <a:p>
            <a:pPr lvl="1"/>
            <a:r>
              <a:rPr lang="en-US" sz="2400">
                <a:highlight>
                  <a:srgbClr val="FFFF00"/>
                </a:highlight>
                <a:cs typeface="Courier New" panose="02070309020205020404" pitchFamily="49" charset="0"/>
              </a:rPr>
              <a:t>10</a:t>
            </a:r>
            <a:r>
              <a:rPr lang="en-US" sz="2400" baseline="30000">
                <a:highlight>
                  <a:srgbClr val="FFFF00"/>
                </a:highlight>
                <a:cs typeface="Courier New" panose="02070309020205020404" pitchFamily="49" charset="0"/>
              </a:rPr>
              <a:t>-2</a:t>
            </a:r>
            <a:r>
              <a:rPr lang="en-US" sz="2400">
                <a:highlight>
                  <a:srgbClr val="FFFF00"/>
                </a:highlight>
                <a:cs typeface="Courier New" panose="02070309020205020404" pitchFamily="49" charset="0"/>
              </a:rPr>
              <a:t> = 0.001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5F9A9E-4659-C3F3-AAE0-0ACDDD1FD81F}"/>
              </a:ext>
            </a:extLst>
          </p:cNvPr>
          <p:cNvSpPr/>
          <p:nvPr/>
        </p:nvSpPr>
        <p:spPr>
          <a:xfrm>
            <a:off x="801785" y="5454440"/>
            <a:ext cx="7184231" cy="53394"/>
          </a:xfrm>
          <a:prstGeom prst="rect">
            <a:avLst/>
          </a:prstGeom>
          <a:solidFill>
            <a:srgbClr val="FFFF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8122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Non-linear axes</a:t>
            </a:r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31E4C8-83A9-8283-EAD9-7D7674E742AD}"/>
              </a:ext>
            </a:extLst>
          </p:cNvPr>
          <p:cNvSpPr txBox="1"/>
          <p:nvPr/>
        </p:nvSpPr>
        <p:spPr>
          <a:xfrm>
            <a:off x="8275269" y="2403815"/>
            <a:ext cx="33056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Here the spread of the data is more easily seen</a:t>
            </a:r>
          </a:p>
          <a:p>
            <a:endParaRPr lang="en-US"/>
          </a:p>
          <a:p>
            <a:r>
              <a:rPr lang="en-US"/>
              <a:t>A ratio of 1 (10</a:t>
            </a:r>
            <a:r>
              <a:rPr lang="en-US" baseline="30000"/>
              <a:t>0</a:t>
            </a:r>
            <a:r>
              <a:rPr lang="en-US"/>
              <a:t>) means that the county has exactly the median</a:t>
            </a:r>
          </a:p>
          <a:p>
            <a:endParaRPr lang="en-US"/>
          </a:p>
          <a:p>
            <a:r>
              <a:rPr lang="en-US"/>
              <a:t>Non-linear scales are especially good if the data you are plotting come from multiplication or division (e.g. a ratio)</a:t>
            </a:r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B9F087-6EC5-A7EB-1B7D-0EB6533DD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16" y="1929214"/>
            <a:ext cx="7725853" cy="40010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AF78F6-D222-AD49-B9FC-D376C6FB7C17}"/>
              </a:ext>
            </a:extLst>
          </p:cNvPr>
          <p:cNvSpPr txBox="1"/>
          <p:nvPr/>
        </p:nvSpPr>
        <p:spPr>
          <a:xfrm>
            <a:off x="502503" y="225851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100</a:t>
            </a:r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917360-130D-B44C-3B5E-1F3F053BDF80}"/>
              </a:ext>
            </a:extLst>
          </p:cNvPr>
          <p:cNvSpPr txBox="1"/>
          <p:nvPr/>
        </p:nvSpPr>
        <p:spPr>
          <a:xfrm>
            <a:off x="619523" y="295715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10</a:t>
            </a:r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9AE55E-AC2C-8248-DC4E-AA2A8165C464}"/>
              </a:ext>
            </a:extLst>
          </p:cNvPr>
          <p:cNvSpPr txBox="1"/>
          <p:nvPr/>
        </p:nvSpPr>
        <p:spPr>
          <a:xfrm>
            <a:off x="736541" y="364997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D13DEF-60B0-5CD0-93CE-D74AB711EF30}"/>
              </a:ext>
            </a:extLst>
          </p:cNvPr>
          <p:cNvSpPr txBox="1"/>
          <p:nvPr/>
        </p:nvSpPr>
        <p:spPr>
          <a:xfrm>
            <a:off x="561815" y="4388643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0.1</a:t>
            </a:r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F05015-2AEE-8410-FB13-F34D185C6F14}"/>
              </a:ext>
            </a:extLst>
          </p:cNvPr>
          <p:cNvSpPr txBox="1"/>
          <p:nvPr/>
        </p:nvSpPr>
        <p:spPr>
          <a:xfrm>
            <a:off x="444795" y="5081471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0.01</a:t>
            </a:r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C34E82-1100-1709-E3A1-93CF1FEDA273}"/>
              </a:ext>
            </a:extLst>
          </p:cNvPr>
          <p:cNvSpPr/>
          <p:nvPr/>
        </p:nvSpPr>
        <p:spPr>
          <a:xfrm flipV="1">
            <a:off x="502503" y="2258517"/>
            <a:ext cx="535724" cy="3289884"/>
          </a:xfrm>
          <a:prstGeom prst="rect">
            <a:avLst/>
          </a:prstGeom>
          <a:solidFill>
            <a:srgbClr val="FFFF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329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id="{254B3068-6C5B-68BC-5387-DFAF01090AF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736" r="-1" b="-1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398876-94DF-6EF5-F89D-515E32593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>
                <a:solidFill>
                  <a:srgbClr val="FFFFFF"/>
                </a:solidFill>
                <a:latin typeface="Gameplay" panose="00000400000000000000" pitchFamily="2" charset="0"/>
              </a:rPr>
              <a:t>COFFEE TIME</a:t>
            </a:r>
          </a:p>
        </p:txBody>
      </p:sp>
    </p:spTree>
    <p:extLst>
      <p:ext uri="{BB962C8B-B14F-4D97-AF65-F5344CB8AC3E}">
        <p14:creationId xmlns:p14="http://schemas.microsoft.com/office/powerpoint/2010/main" val="39989460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5120114" cy="16927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Your projects (the “exam”)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8708837-46EF-5D94-0C40-414511E548D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55321" y="2575034"/>
            <a:ext cx="5120113" cy="346222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1500">
                <a:effectLst/>
              </a:rPr>
              <a:t>Final assessment will be via submission of a homework project in which the student has analyzed their own data, tested hypotheses, and produced graphical output. The project must be submitted to an online repository with full documentation.</a:t>
            </a:r>
          </a:p>
          <a:p>
            <a:pPr>
              <a:spcAft>
                <a:spcPts val="800"/>
              </a:spcAft>
            </a:pPr>
            <a:r>
              <a:rPr lang="en-US" sz="1500">
                <a:effectLst/>
              </a:rPr>
              <a:t>The grading is Bestått (approved) / Ikke bestått (not approved).</a:t>
            </a:r>
          </a:p>
          <a:p>
            <a:pPr>
              <a:spcAft>
                <a:spcPts val="800"/>
              </a:spcAft>
            </a:pPr>
            <a:r>
              <a:rPr lang="en-US" sz="1500">
                <a:effectLst/>
              </a:rPr>
              <a:t>All submitted projects must have:</a:t>
            </a:r>
          </a:p>
          <a:p>
            <a:pPr marL="800100" lvl="1"/>
            <a:r>
              <a:rPr lang="en-US" sz="1500">
                <a:effectLst/>
              </a:rPr>
              <a:t>Link to an online Github repository</a:t>
            </a:r>
          </a:p>
          <a:p>
            <a:pPr marL="800100" lvl="1">
              <a:spcAft>
                <a:spcPts val="800"/>
              </a:spcAft>
            </a:pPr>
            <a:r>
              <a:rPr lang="en-US" sz="1500">
                <a:effectLst/>
              </a:rPr>
              <a:t>PDF with documentation and short write-up of project including examples of figures and justification of choices.</a:t>
            </a:r>
          </a:p>
        </p:txBody>
      </p:sp>
      <p:pic>
        <p:nvPicPr>
          <p:cNvPr id="9" name="Picture 8" descr="A picture containing text, person, outdoor, orange&#10;&#10;Description automatically generated">
            <a:extLst>
              <a:ext uri="{FF2B5EF4-FFF2-40B4-BE49-F238E27FC236}">
                <a16:creationId xmlns:a16="http://schemas.microsoft.com/office/drawing/2014/main" id="{629FE1E9-FB56-7286-820F-365928DA850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45"/>
          <a:stretch/>
        </p:blipFill>
        <p:spPr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233296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Your projects (the “exam”)</a:t>
            </a:r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EF54C0-72D3-DB4D-A04B-2E0F68A07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30262"/>
            <a:ext cx="10744200" cy="481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090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Color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2E7B5A-947B-A3B0-01F4-9CCE2CEAEBF6}"/>
              </a:ext>
            </a:extLst>
          </p:cNvPr>
          <p:cNvSpPr txBox="1">
            <a:spLocks/>
          </p:cNvSpPr>
          <p:nvPr/>
        </p:nvSpPr>
        <p:spPr>
          <a:xfrm>
            <a:off x="838200" y="1604921"/>
            <a:ext cx="10515600" cy="32313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There are three fundamental uses for color in data visualization</a:t>
            </a:r>
          </a:p>
          <a:p>
            <a:pPr lvl="1"/>
            <a:r>
              <a:rPr lang="en-US">
                <a:cs typeface="Courier New" panose="02070309020205020404" pitchFamily="49" charset="0"/>
              </a:rPr>
              <a:t>To distinguish groups of data from each other</a:t>
            </a:r>
          </a:p>
          <a:p>
            <a:pPr lvl="1"/>
            <a:r>
              <a:rPr lang="en-US">
                <a:cs typeface="Courier New" panose="02070309020205020404" pitchFamily="49" charset="0"/>
              </a:rPr>
              <a:t>To represent data values</a:t>
            </a:r>
          </a:p>
          <a:p>
            <a:pPr lvl="1"/>
            <a:r>
              <a:rPr lang="en-US">
                <a:cs typeface="Courier New" panose="02070309020205020404" pitchFamily="49" charset="0"/>
              </a:rPr>
              <a:t>As a way of highlighting data</a:t>
            </a:r>
          </a:p>
          <a:p>
            <a:pPr lvl="1"/>
            <a:endParaRPr lang="en-US">
              <a:cs typeface="Courier New" panose="02070309020205020404" pitchFamily="49" charset="0"/>
            </a:endParaRPr>
          </a:p>
          <a:p>
            <a:r>
              <a:rPr lang="en-US">
                <a:cs typeface="Courier New" panose="02070309020205020404" pitchFamily="49" charset="0"/>
              </a:rPr>
              <a:t>The types of colors that we use and how we use them are quite different for each of these cases</a:t>
            </a:r>
          </a:p>
        </p:txBody>
      </p:sp>
    </p:spTree>
    <p:extLst>
      <p:ext uri="{BB962C8B-B14F-4D97-AF65-F5344CB8AC3E}">
        <p14:creationId xmlns:p14="http://schemas.microsoft.com/office/powerpoint/2010/main" val="3988958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Color as a tool to distinguish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2E7B5A-947B-A3B0-01F4-9CCE2CEAEBF6}"/>
              </a:ext>
            </a:extLst>
          </p:cNvPr>
          <p:cNvSpPr txBox="1">
            <a:spLocks/>
          </p:cNvSpPr>
          <p:nvPr/>
        </p:nvSpPr>
        <p:spPr>
          <a:xfrm>
            <a:off x="838200" y="1604921"/>
            <a:ext cx="5591175" cy="46101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Commonly used to distinguish discrete items that do not have an intrinsic order</a:t>
            </a:r>
          </a:p>
          <a:p>
            <a:pPr lvl="1"/>
            <a:r>
              <a:rPr lang="en-US">
                <a:cs typeface="Courier New" panose="02070309020205020404" pitchFamily="49" charset="0"/>
              </a:rPr>
              <a:t>Different countries on a map</a:t>
            </a:r>
          </a:p>
          <a:p>
            <a:pPr lvl="1"/>
            <a:endParaRPr lang="en-US">
              <a:cs typeface="Courier New" panose="02070309020205020404" pitchFamily="49" charset="0"/>
            </a:endParaRPr>
          </a:p>
          <a:p>
            <a:r>
              <a:rPr lang="en-US">
                <a:cs typeface="Courier New" panose="02070309020205020404" pitchFamily="49" charset="0"/>
              </a:rPr>
              <a:t>Here, we use a </a:t>
            </a:r>
            <a:r>
              <a:rPr lang="en-US" b="1">
                <a:cs typeface="Courier New" panose="02070309020205020404" pitchFamily="49" charset="0"/>
              </a:rPr>
              <a:t>qualitative</a:t>
            </a:r>
            <a:r>
              <a:rPr lang="en-US">
                <a:cs typeface="Courier New" panose="02070309020205020404" pitchFamily="49" charset="0"/>
              </a:rPr>
              <a:t> color scale where…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>
                <a:cs typeface="Courier New" panose="02070309020205020404" pitchFamily="49" charset="0"/>
              </a:rPr>
              <a:t>A finite set of colors look distinct but are also equivalent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>
                <a:cs typeface="Courier New" panose="02070309020205020404" pitchFamily="49" charset="0"/>
              </a:rPr>
              <a:t>Colors should not create impression of an order </a:t>
            </a:r>
          </a:p>
          <a:p>
            <a:endParaRPr lang="en-US">
              <a:cs typeface="Courier New" panose="020703090202050204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137C82-8FF5-C50D-F28B-386FE6C47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980" y="2398500"/>
            <a:ext cx="5384488" cy="21760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73EB86-09D7-7D28-1C43-CC0EA8AA78B2}"/>
              </a:ext>
            </a:extLst>
          </p:cNvPr>
          <p:cNvSpPr txBox="1"/>
          <p:nvPr/>
        </p:nvSpPr>
        <p:spPr>
          <a:xfrm>
            <a:off x="7308056" y="4700588"/>
            <a:ext cx="4082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Three examples of qualitative color scales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2846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AF84652-554B-F9AE-BC05-71A52D2A5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084" y="1085850"/>
            <a:ext cx="4934126" cy="56778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Color as a tool to distinguish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2E7B5A-947B-A3B0-01F4-9CCE2CEAEBF6}"/>
              </a:ext>
            </a:extLst>
          </p:cNvPr>
          <p:cNvSpPr txBox="1">
            <a:spLocks/>
          </p:cNvSpPr>
          <p:nvPr/>
        </p:nvSpPr>
        <p:spPr>
          <a:xfrm>
            <a:off x="838200" y="1604921"/>
            <a:ext cx="5591175" cy="46101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Commonly used to distinguish discrete items that do not have an intrinsic order</a:t>
            </a:r>
          </a:p>
          <a:p>
            <a:pPr lvl="1"/>
            <a:r>
              <a:rPr lang="en-US">
                <a:cs typeface="Courier New" panose="02070309020205020404" pitchFamily="49" charset="0"/>
              </a:rPr>
              <a:t>Different countries on a map</a:t>
            </a:r>
          </a:p>
          <a:p>
            <a:pPr lvl="1"/>
            <a:endParaRPr lang="en-US">
              <a:cs typeface="Courier New" panose="02070309020205020404" pitchFamily="49" charset="0"/>
            </a:endParaRPr>
          </a:p>
          <a:p>
            <a:r>
              <a:rPr lang="en-US">
                <a:cs typeface="Courier New" panose="02070309020205020404" pitchFamily="49" charset="0"/>
              </a:rPr>
              <a:t>Here, we use a </a:t>
            </a:r>
            <a:r>
              <a:rPr lang="en-US" b="1">
                <a:cs typeface="Courier New" panose="02070309020205020404" pitchFamily="49" charset="0"/>
              </a:rPr>
              <a:t>qualitative</a:t>
            </a:r>
            <a:r>
              <a:rPr lang="en-US">
                <a:cs typeface="Courier New" panose="02070309020205020404" pitchFamily="49" charset="0"/>
              </a:rPr>
              <a:t> color scale where…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>
                <a:cs typeface="Courier New" panose="02070309020205020404" pitchFamily="49" charset="0"/>
              </a:rPr>
              <a:t>A finite set of colors look distinct but are also equivalent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>
                <a:cs typeface="Courier New" panose="02070309020205020404" pitchFamily="49" charset="0"/>
              </a:rPr>
              <a:t>Colors should not create impression of an order </a:t>
            </a:r>
          </a:p>
          <a:p>
            <a:endParaRPr lang="en-US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5441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Color to represent data values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2E7B5A-947B-A3B0-01F4-9CCE2CEAEBF6}"/>
              </a:ext>
            </a:extLst>
          </p:cNvPr>
          <p:cNvSpPr txBox="1">
            <a:spLocks/>
          </p:cNvSpPr>
          <p:nvPr/>
        </p:nvSpPr>
        <p:spPr>
          <a:xfrm>
            <a:off x="838200" y="1604921"/>
            <a:ext cx="5591175" cy="46101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A </a:t>
            </a:r>
            <a:r>
              <a:rPr lang="en-US" b="1">
                <a:cs typeface="Courier New" panose="02070309020205020404" pitchFamily="49" charset="0"/>
              </a:rPr>
              <a:t>sequential</a:t>
            </a:r>
            <a:r>
              <a:rPr lang="en-US">
                <a:cs typeface="Courier New" panose="02070309020205020404" pitchFamily="49" charset="0"/>
              </a:rPr>
              <a:t> color scale can be used to represent data, e.g. income</a:t>
            </a:r>
          </a:p>
          <a:p>
            <a:r>
              <a:rPr lang="en-US">
                <a:cs typeface="Courier New" panose="02070309020205020404" pitchFamily="49" charset="0"/>
              </a:rPr>
              <a:t>The sequence should clearly indicate…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>
                <a:cs typeface="Courier New" panose="02070309020205020404" pitchFamily="49" charset="0"/>
              </a:rPr>
              <a:t>Which values are larger or smaller than others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>
                <a:cs typeface="Courier New" panose="02070309020205020404" pitchFamily="49" charset="0"/>
              </a:rPr>
              <a:t>How distant two values are from each other</a:t>
            </a:r>
          </a:p>
          <a:p>
            <a:r>
              <a:rPr lang="en-US">
                <a:cs typeface="Courier New" panose="02070309020205020404" pitchFamily="49" charset="0"/>
              </a:rPr>
              <a:t>Important that color scale is perceived </a:t>
            </a:r>
            <a:r>
              <a:rPr lang="en-US" b="1">
                <a:cs typeface="Courier New" panose="02070309020205020404" pitchFamily="49" charset="0"/>
              </a:rPr>
              <a:t>uniformly</a:t>
            </a:r>
            <a:r>
              <a:rPr lang="en-US">
                <a:cs typeface="Courier New" panose="02070309020205020404" pitchFamily="49" charset="0"/>
              </a:rPr>
              <a:t> across the entire range</a:t>
            </a:r>
          </a:p>
          <a:p>
            <a:pPr lvl="1"/>
            <a:endParaRPr lang="en-US">
              <a:cs typeface="Courier New" panose="02070309020205020404" pitchFamily="49" charset="0"/>
            </a:endParaRPr>
          </a:p>
          <a:p>
            <a:endParaRPr lang="en-US">
              <a:cs typeface="Courier New" panose="020703090202050204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210C40-8E03-08BF-0C2A-0EDC70A7B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243" y="2323355"/>
            <a:ext cx="5513077" cy="22112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D60BF0-6174-3473-9233-A1DC4D2879D4}"/>
              </a:ext>
            </a:extLst>
          </p:cNvPr>
          <p:cNvSpPr txBox="1"/>
          <p:nvPr/>
        </p:nvSpPr>
        <p:spPr>
          <a:xfrm>
            <a:off x="7308056" y="4700588"/>
            <a:ext cx="4069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Three examples of sequential color scales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85923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Color to represent data values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2E7B5A-947B-A3B0-01F4-9CCE2CEAEBF6}"/>
              </a:ext>
            </a:extLst>
          </p:cNvPr>
          <p:cNvSpPr txBox="1">
            <a:spLocks/>
          </p:cNvSpPr>
          <p:nvPr/>
        </p:nvSpPr>
        <p:spPr>
          <a:xfrm>
            <a:off x="838200" y="1604921"/>
            <a:ext cx="5591175" cy="46101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A </a:t>
            </a:r>
            <a:r>
              <a:rPr lang="en-US" b="1">
                <a:cs typeface="Courier New" panose="02070309020205020404" pitchFamily="49" charset="0"/>
              </a:rPr>
              <a:t>sequential</a:t>
            </a:r>
            <a:r>
              <a:rPr lang="en-US">
                <a:cs typeface="Courier New" panose="02070309020205020404" pitchFamily="49" charset="0"/>
              </a:rPr>
              <a:t> color scale can be used to represent data, e.g. income</a:t>
            </a:r>
          </a:p>
          <a:p>
            <a:r>
              <a:rPr lang="en-US">
                <a:cs typeface="Courier New" panose="02070309020205020404" pitchFamily="49" charset="0"/>
              </a:rPr>
              <a:t>The sequence should clearly indicate…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>
                <a:cs typeface="Courier New" panose="02070309020205020404" pitchFamily="49" charset="0"/>
              </a:rPr>
              <a:t>Which values are larger or smaller than others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>
                <a:cs typeface="Courier New" panose="02070309020205020404" pitchFamily="49" charset="0"/>
              </a:rPr>
              <a:t>How distant two values are from each other</a:t>
            </a:r>
          </a:p>
          <a:p>
            <a:r>
              <a:rPr lang="en-US">
                <a:cs typeface="Courier New" panose="02070309020205020404" pitchFamily="49" charset="0"/>
              </a:rPr>
              <a:t>Important that color scale is perceived </a:t>
            </a:r>
            <a:r>
              <a:rPr lang="en-US" b="1">
                <a:cs typeface="Courier New" panose="02070309020205020404" pitchFamily="49" charset="0"/>
              </a:rPr>
              <a:t>uniformly</a:t>
            </a:r>
            <a:r>
              <a:rPr lang="en-US">
                <a:cs typeface="Courier New" panose="02070309020205020404" pitchFamily="49" charset="0"/>
              </a:rPr>
              <a:t> across the entire range</a:t>
            </a:r>
          </a:p>
          <a:p>
            <a:pPr lvl="1"/>
            <a:endParaRPr lang="en-US">
              <a:cs typeface="Courier New" panose="02070309020205020404" pitchFamily="49" charset="0"/>
            </a:endParaRPr>
          </a:p>
          <a:p>
            <a:endParaRPr lang="en-US">
              <a:cs typeface="Courier New" panose="020703090202050204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DE50D1-583C-B5A9-0D7D-78DDD8BA1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343" y="1690688"/>
            <a:ext cx="5191850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740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Color to represent data values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2E7B5A-947B-A3B0-01F4-9CCE2CEAEBF6}"/>
              </a:ext>
            </a:extLst>
          </p:cNvPr>
          <p:cNvSpPr txBox="1">
            <a:spLocks/>
          </p:cNvSpPr>
          <p:nvPr/>
        </p:nvSpPr>
        <p:spPr>
          <a:xfrm>
            <a:off x="838200" y="1604921"/>
            <a:ext cx="5591175" cy="46101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We can also use a diverging color scale to show data that a positive and negative (or diverge from a neutral midpoint)</a:t>
            </a:r>
          </a:p>
          <a:p>
            <a:endParaRPr lang="en-US">
              <a:cs typeface="Courier New" panose="02070309020205020404" pitchFamily="49" charset="0"/>
            </a:endParaRPr>
          </a:p>
          <a:p>
            <a:r>
              <a:rPr lang="en-US">
                <a:cs typeface="Courier New" panose="02070309020205020404" pitchFamily="49" charset="0"/>
              </a:rPr>
              <a:t>Important that these scales are balanced so that the transition from light to dark is the same in both directions</a:t>
            </a:r>
          </a:p>
          <a:p>
            <a:pPr lvl="1"/>
            <a:endParaRPr lang="en-US">
              <a:cs typeface="Courier New" panose="02070309020205020404" pitchFamily="49" charset="0"/>
            </a:endParaRPr>
          </a:p>
          <a:p>
            <a:endParaRPr lang="en-US">
              <a:cs typeface="Courier New" panose="020703090202050204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6219BD-9976-1E50-C774-E5C728527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850" y="2303763"/>
            <a:ext cx="5452179" cy="22504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267B3F-67F5-72D5-5A68-9751FA6AC207}"/>
              </a:ext>
            </a:extLst>
          </p:cNvPr>
          <p:cNvSpPr txBox="1"/>
          <p:nvPr/>
        </p:nvSpPr>
        <p:spPr>
          <a:xfrm>
            <a:off x="7576636" y="4743451"/>
            <a:ext cx="3359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Examples of diverging color scales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75034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Color to represent data values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2E7B5A-947B-A3B0-01F4-9CCE2CEAEBF6}"/>
              </a:ext>
            </a:extLst>
          </p:cNvPr>
          <p:cNvSpPr txBox="1">
            <a:spLocks/>
          </p:cNvSpPr>
          <p:nvPr/>
        </p:nvSpPr>
        <p:spPr>
          <a:xfrm>
            <a:off x="838200" y="1604921"/>
            <a:ext cx="5591175" cy="46101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We can also use a diverging color scale to show data that a positive and negative (or diverge from a neutral midpoint)</a:t>
            </a:r>
          </a:p>
          <a:p>
            <a:endParaRPr lang="en-US">
              <a:cs typeface="Courier New" panose="02070309020205020404" pitchFamily="49" charset="0"/>
            </a:endParaRPr>
          </a:p>
          <a:p>
            <a:r>
              <a:rPr lang="en-US">
                <a:cs typeface="Courier New" panose="02070309020205020404" pitchFamily="49" charset="0"/>
              </a:rPr>
              <a:t>Important that these scales are balanced so that the transition from light to dark is the same in both directions</a:t>
            </a:r>
          </a:p>
          <a:p>
            <a:pPr lvl="1"/>
            <a:endParaRPr lang="en-US">
              <a:cs typeface="Courier New" panose="02070309020205020404" pitchFamily="49" charset="0"/>
            </a:endParaRPr>
          </a:p>
          <a:p>
            <a:endParaRPr lang="en-US">
              <a:cs typeface="Courier New" panose="020703090202050204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809157-B460-78F7-FD91-553825394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681" y="1873767"/>
            <a:ext cx="5439534" cy="39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3585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Color as a tool to highlight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2E7B5A-947B-A3B0-01F4-9CCE2CEAEBF6}"/>
              </a:ext>
            </a:extLst>
          </p:cNvPr>
          <p:cNvSpPr txBox="1">
            <a:spLocks/>
          </p:cNvSpPr>
          <p:nvPr/>
        </p:nvSpPr>
        <p:spPr>
          <a:xfrm>
            <a:off x="838200" y="1604921"/>
            <a:ext cx="5591175" cy="46101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Color can be an effective tool to highlight specific elements</a:t>
            </a:r>
          </a:p>
          <a:p>
            <a:endParaRPr lang="en-US">
              <a:cs typeface="Courier New" panose="02070309020205020404" pitchFamily="49" charset="0"/>
            </a:endParaRPr>
          </a:p>
          <a:p>
            <a:r>
              <a:rPr lang="en-US">
                <a:cs typeface="Courier New" panose="02070309020205020404" pitchFamily="49" charset="0"/>
              </a:rPr>
              <a:t>Can use </a:t>
            </a:r>
            <a:r>
              <a:rPr lang="en-US" b="1">
                <a:cs typeface="Courier New" panose="02070309020205020404" pitchFamily="49" charset="0"/>
              </a:rPr>
              <a:t>accent</a:t>
            </a:r>
            <a:r>
              <a:rPr lang="en-US">
                <a:cs typeface="Courier New" panose="02070309020205020404" pitchFamily="49" charset="0"/>
              </a:rPr>
              <a:t> color scales</a:t>
            </a:r>
          </a:p>
          <a:p>
            <a:endParaRPr lang="en-US">
              <a:cs typeface="Courier New" panose="02070309020205020404" pitchFamily="49" charset="0"/>
            </a:endParaRPr>
          </a:p>
          <a:p>
            <a:r>
              <a:rPr lang="en-US">
                <a:cs typeface="Courier New" panose="02070309020205020404" pitchFamily="49" charset="0"/>
              </a:rPr>
              <a:t>These contain both subdued colors and a matching set of stronger colors</a:t>
            </a:r>
          </a:p>
          <a:p>
            <a:pPr lvl="1"/>
            <a:endParaRPr lang="en-US">
              <a:cs typeface="Courier New" panose="02070309020205020404" pitchFamily="49" charset="0"/>
            </a:endParaRPr>
          </a:p>
          <a:p>
            <a:endParaRPr lang="en-US">
              <a:cs typeface="Courier New" panose="020703090202050204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1C9174-742E-5DCD-8516-DBCFBC575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955" y="2283395"/>
            <a:ext cx="5591176" cy="22912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6B5AF5-E9F4-311A-9952-7C9BA62AC9CB}"/>
              </a:ext>
            </a:extLst>
          </p:cNvPr>
          <p:cNvSpPr txBox="1"/>
          <p:nvPr/>
        </p:nvSpPr>
        <p:spPr>
          <a:xfrm>
            <a:off x="7576636" y="4743451"/>
            <a:ext cx="31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Examples of accent color scales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698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Color as a tool to highlight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2E7B5A-947B-A3B0-01F4-9CCE2CEAEBF6}"/>
              </a:ext>
            </a:extLst>
          </p:cNvPr>
          <p:cNvSpPr txBox="1">
            <a:spLocks/>
          </p:cNvSpPr>
          <p:nvPr/>
        </p:nvSpPr>
        <p:spPr>
          <a:xfrm>
            <a:off x="838200" y="1604921"/>
            <a:ext cx="5591175" cy="46101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Color can be an effective tool to highlight specific elements</a:t>
            </a:r>
          </a:p>
          <a:p>
            <a:endParaRPr lang="en-US">
              <a:cs typeface="Courier New" panose="02070309020205020404" pitchFamily="49" charset="0"/>
            </a:endParaRPr>
          </a:p>
          <a:p>
            <a:r>
              <a:rPr lang="en-US">
                <a:cs typeface="Courier New" panose="02070309020205020404" pitchFamily="49" charset="0"/>
              </a:rPr>
              <a:t>Can use </a:t>
            </a:r>
            <a:r>
              <a:rPr lang="en-US" b="1">
                <a:cs typeface="Courier New" panose="02070309020205020404" pitchFamily="49" charset="0"/>
              </a:rPr>
              <a:t>accent</a:t>
            </a:r>
            <a:r>
              <a:rPr lang="en-US">
                <a:cs typeface="Courier New" panose="02070309020205020404" pitchFamily="49" charset="0"/>
              </a:rPr>
              <a:t> color scales</a:t>
            </a:r>
          </a:p>
          <a:p>
            <a:endParaRPr lang="en-US">
              <a:cs typeface="Courier New" panose="02070309020205020404" pitchFamily="49" charset="0"/>
            </a:endParaRPr>
          </a:p>
          <a:p>
            <a:r>
              <a:rPr lang="en-US">
                <a:cs typeface="Courier New" panose="02070309020205020404" pitchFamily="49" charset="0"/>
              </a:rPr>
              <a:t>These contain both subdued colors and a matching set of stronger colors</a:t>
            </a:r>
          </a:p>
          <a:p>
            <a:pPr lvl="1"/>
            <a:endParaRPr lang="en-US">
              <a:cs typeface="Courier New" panose="02070309020205020404" pitchFamily="49" charset="0"/>
            </a:endParaRPr>
          </a:p>
          <a:p>
            <a:endParaRPr lang="en-US">
              <a:cs typeface="Courier New" panose="020703090202050204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ED46D7-D3BE-DC97-D21E-04D8C8DD1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4170" y="757238"/>
            <a:ext cx="4791522" cy="599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3064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Encoding too much or irrelevant information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2E7B5A-947B-A3B0-01F4-9CCE2CEAEBF6}"/>
              </a:ext>
            </a:extLst>
          </p:cNvPr>
          <p:cNvSpPr txBox="1">
            <a:spLocks/>
          </p:cNvSpPr>
          <p:nvPr/>
        </p:nvSpPr>
        <p:spPr>
          <a:xfrm>
            <a:off x="838200" y="1604921"/>
            <a:ext cx="5591175" cy="46101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Don’t try to encode too many items with different colors</a:t>
            </a:r>
          </a:p>
          <a:p>
            <a:endParaRPr lang="en-US">
              <a:cs typeface="Courier New" panose="02070309020205020404" pitchFamily="49" charset="0"/>
            </a:endParaRPr>
          </a:p>
          <a:p>
            <a:r>
              <a:rPr lang="en-US">
                <a:cs typeface="Courier New" panose="02070309020205020404" pitchFamily="49" charset="0"/>
              </a:rPr>
              <a:t>Qualitative colors scales work best with three to five categories</a:t>
            </a:r>
          </a:p>
          <a:p>
            <a:endParaRPr lang="en-US">
              <a:cs typeface="Courier New" panose="02070309020205020404" pitchFamily="49" charset="0"/>
            </a:endParaRPr>
          </a:p>
          <a:p>
            <a:r>
              <a:rPr lang="en-US">
                <a:cs typeface="Courier New" panose="02070309020205020404" pitchFamily="49" charset="0"/>
              </a:rPr>
              <a:t>Too much work to go between the data and the legend trying to work out what each color represents</a:t>
            </a:r>
          </a:p>
          <a:p>
            <a:pPr lvl="1"/>
            <a:endParaRPr lang="en-US">
              <a:cs typeface="Courier New" panose="02070309020205020404" pitchFamily="49" charset="0"/>
            </a:endParaRPr>
          </a:p>
          <a:p>
            <a:endParaRPr lang="en-US">
              <a:cs typeface="Courier New" panose="020703090202050204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20FFC8-D7AD-FFAA-5478-EA7952909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597" y="1539081"/>
            <a:ext cx="4214033" cy="492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542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Encoding too much or irrelevant information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2E7B5A-947B-A3B0-01F4-9CCE2CEAEBF6}"/>
              </a:ext>
            </a:extLst>
          </p:cNvPr>
          <p:cNvSpPr txBox="1">
            <a:spLocks/>
          </p:cNvSpPr>
          <p:nvPr/>
        </p:nvSpPr>
        <p:spPr>
          <a:xfrm>
            <a:off x="838200" y="1604921"/>
            <a:ext cx="5591175" cy="46101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Don’t try to encode too many items with different colors</a:t>
            </a:r>
          </a:p>
          <a:p>
            <a:endParaRPr lang="en-US">
              <a:cs typeface="Courier New" panose="02070309020205020404" pitchFamily="49" charset="0"/>
            </a:endParaRPr>
          </a:p>
          <a:p>
            <a:r>
              <a:rPr lang="en-US">
                <a:cs typeface="Courier New" panose="02070309020205020404" pitchFamily="49" charset="0"/>
              </a:rPr>
              <a:t>Qualitative colors scales work best with three to five categories</a:t>
            </a:r>
          </a:p>
          <a:p>
            <a:endParaRPr lang="en-US">
              <a:cs typeface="Courier New" panose="02070309020205020404" pitchFamily="49" charset="0"/>
            </a:endParaRPr>
          </a:p>
          <a:p>
            <a:r>
              <a:rPr lang="en-US">
                <a:cs typeface="Courier New" panose="02070309020205020404" pitchFamily="49" charset="0"/>
              </a:rPr>
              <a:t>Too much work to go between the data and the legend trying to work out what each color represents</a:t>
            </a:r>
          </a:p>
          <a:p>
            <a:pPr lvl="1"/>
            <a:endParaRPr lang="en-US">
              <a:cs typeface="Courier New" panose="02070309020205020404" pitchFamily="49" charset="0"/>
            </a:endParaRPr>
          </a:p>
          <a:p>
            <a:endParaRPr lang="en-US">
              <a:cs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230862-AB79-8344-9E30-CDB6E2DC4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341" y="2364429"/>
            <a:ext cx="5490499" cy="317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9175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Non-monotonic color scales to encode data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2E7B5A-947B-A3B0-01F4-9CCE2CEAEBF6}"/>
              </a:ext>
            </a:extLst>
          </p:cNvPr>
          <p:cNvSpPr txBox="1">
            <a:spLocks/>
          </p:cNvSpPr>
          <p:nvPr/>
        </p:nvSpPr>
        <p:spPr>
          <a:xfrm>
            <a:off x="838200" y="1962108"/>
            <a:ext cx="5591175" cy="38886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Remember! Colors need to show…</a:t>
            </a:r>
          </a:p>
          <a:p>
            <a:pPr lvl="1"/>
            <a:r>
              <a:rPr lang="en-US">
                <a:cs typeface="Courier New" panose="02070309020205020404" pitchFamily="49" charset="0"/>
              </a:rPr>
              <a:t>Which data values are larger or smaller than each other</a:t>
            </a:r>
          </a:p>
          <a:p>
            <a:pPr lvl="1"/>
            <a:r>
              <a:rPr lang="en-US">
                <a:cs typeface="Courier New" panose="02070309020205020404" pitchFamily="49" charset="0"/>
              </a:rPr>
              <a:t>How distant values are from each other</a:t>
            </a:r>
          </a:p>
          <a:p>
            <a:pPr lvl="1"/>
            <a:endParaRPr lang="en-US">
              <a:cs typeface="Courier New" panose="02070309020205020404" pitchFamily="49" charset="0"/>
            </a:endParaRPr>
          </a:p>
          <a:p>
            <a:r>
              <a:rPr lang="en-US">
                <a:cs typeface="Courier New" panose="02070309020205020404" pitchFamily="49" charset="0"/>
              </a:rPr>
              <a:t>The rainbow scale is highly non-monotonic</a:t>
            </a:r>
          </a:p>
          <a:p>
            <a:pPr lvl="1"/>
            <a:endParaRPr lang="en-US">
              <a:cs typeface="Courier New" panose="02070309020205020404" pitchFamily="49" charset="0"/>
            </a:endParaRPr>
          </a:p>
          <a:p>
            <a:endParaRPr lang="en-US">
              <a:cs typeface="Courier New" panose="020703090202050204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EC29F9-9D54-27C2-31CA-3875E194A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737" y="2786062"/>
            <a:ext cx="5393632" cy="159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9686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Non-monotonic color scales to encode data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2E7B5A-947B-A3B0-01F4-9CCE2CEAEBF6}"/>
              </a:ext>
            </a:extLst>
          </p:cNvPr>
          <p:cNvSpPr txBox="1">
            <a:spLocks/>
          </p:cNvSpPr>
          <p:nvPr/>
        </p:nvSpPr>
        <p:spPr>
          <a:xfrm>
            <a:off x="838200" y="1962108"/>
            <a:ext cx="5591175" cy="38886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Remember! Colors need to show…</a:t>
            </a:r>
          </a:p>
          <a:p>
            <a:pPr lvl="1"/>
            <a:r>
              <a:rPr lang="en-US">
                <a:cs typeface="Courier New" panose="02070309020205020404" pitchFamily="49" charset="0"/>
              </a:rPr>
              <a:t>Which data values are larger or smaller than each other</a:t>
            </a:r>
          </a:p>
          <a:p>
            <a:pPr lvl="1"/>
            <a:r>
              <a:rPr lang="en-US">
                <a:cs typeface="Courier New" panose="02070309020205020404" pitchFamily="49" charset="0"/>
              </a:rPr>
              <a:t>How distant values are from each other</a:t>
            </a:r>
          </a:p>
          <a:p>
            <a:pPr lvl="1"/>
            <a:endParaRPr lang="en-US">
              <a:cs typeface="Courier New" panose="02070309020205020404" pitchFamily="49" charset="0"/>
            </a:endParaRPr>
          </a:p>
          <a:p>
            <a:r>
              <a:rPr lang="en-US">
                <a:cs typeface="Courier New" panose="02070309020205020404" pitchFamily="49" charset="0"/>
              </a:rPr>
              <a:t>The rainbow scale is highly non-monotonic</a:t>
            </a:r>
          </a:p>
          <a:p>
            <a:pPr lvl="1"/>
            <a:endParaRPr lang="en-US">
              <a:cs typeface="Courier New" panose="02070309020205020404" pitchFamily="49" charset="0"/>
            </a:endParaRPr>
          </a:p>
          <a:p>
            <a:endParaRPr lang="en-US"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942166-A83C-177A-74C7-A7CC1CA1E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727" y="1962108"/>
            <a:ext cx="4974411" cy="361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0277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 designing for color deficiency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2E7B5A-947B-A3B0-01F4-9CCE2CEAEBF6}"/>
              </a:ext>
            </a:extLst>
          </p:cNvPr>
          <p:cNvSpPr txBox="1">
            <a:spLocks/>
          </p:cNvSpPr>
          <p:nvPr/>
        </p:nvSpPr>
        <p:spPr>
          <a:xfrm>
            <a:off x="838200" y="1962108"/>
            <a:ext cx="5591175" cy="38886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Many of our readers may have some form of color-vision deficiency (CVD) – i.e. be “color-blind”</a:t>
            </a:r>
          </a:p>
          <a:p>
            <a:pPr lvl="1"/>
            <a:r>
              <a:rPr lang="en-US">
                <a:cs typeface="Courier New" panose="02070309020205020404" pitchFamily="49" charset="0"/>
              </a:rPr>
              <a:t>Protanomoly – difficulty with red</a:t>
            </a:r>
          </a:p>
          <a:p>
            <a:pPr lvl="1"/>
            <a:r>
              <a:rPr lang="en-US">
                <a:cs typeface="Courier New" panose="02070309020205020404" pitchFamily="49" charset="0"/>
              </a:rPr>
              <a:t>Deuteranomoly –difficulty with green</a:t>
            </a:r>
          </a:p>
          <a:p>
            <a:pPr lvl="1"/>
            <a:r>
              <a:rPr lang="en-US">
                <a:cs typeface="Courier New" panose="02070309020205020404" pitchFamily="49" charset="0"/>
              </a:rPr>
              <a:t>Tritanomly – difficulty with blue</a:t>
            </a:r>
          </a:p>
          <a:p>
            <a:pPr lvl="1"/>
            <a:endParaRPr lang="en-US">
              <a:cs typeface="Courier New" panose="02070309020205020404" pitchFamily="49" charset="0"/>
            </a:endParaRPr>
          </a:p>
          <a:p>
            <a:r>
              <a:rPr lang="en-US">
                <a:cs typeface="Courier New" panose="02070309020205020404" pitchFamily="49" charset="0"/>
              </a:rPr>
              <a:t>Approx 8% males, 0.5% females</a:t>
            </a:r>
          </a:p>
          <a:p>
            <a:pPr lvl="1"/>
            <a:endParaRPr lang="en-US">
              <a:cs typeface="Courier New" panose="02070309020205020404" pitchFamily="49" charset="0"/>
            </a:endParaRPr>
          </a:p>
          <a:p>
            <a:endParaRPr lang="en-US">
              <a:cs typeface="Courier New" panose="020703090202050204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81C23B-9781-0E4B-E03B-3A178A12C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037" y="2998920"/>
            <a:ext cx="5653528" cy="15873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CCE263-BCD8-3529-78CF-8FD219F5FC16}"/>
              </a:ext>
            </a:extLst>
          </p:cNvPr>
          <p:cNvSpPr txBox="1"/>
          <p:nvPr/>
        </p:nvSpPr>
        <p:spPr>
          <a:xfrm>
            <a:off x="7022306" y="4950618"/>
            <a:ext cx="4726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Safe to use as in all cases we see a clear gradient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0FDDE6-DF40-1329-55C8-3197F593A23D}"/>
              </a:ext>
            </a:extLst>
          </p:cNvPr>
          <p:cNvSpPr/>
          <p:nvPr/>
        </p:nvSpPr>
        <p:spPr>
          <a:xfrm>
            <a:off x="9494044" y="2998920"/>
            <a:ext cx="2636044" cy="7801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2EE328-3233-962C-4B49-2DB317E8135B}"/>
              </a:ext>
            </a:extLst>
          </p:cNvPr>
          <p:cNvSpPr/>
          <p:nvPr/>
        </p:nvSpPr>
        <p:spPr>
          <a:xfrm>
            <a:off x="6749569" y="3806163"/>
            <a:ext cx="2636044" cy="7801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53240C-ABD2-067B-CABC-3301B10030D3}"/>
              </a:ext>
            </a:extLst>
          </p:cNvPr>
          <p:cNvSpPr/>
          <p:nvPr/>
        </p:nvSpPr>
        <p:spPr>
          <a:xfrm>
            <a:off x="9532275" y="3779044"/>
            <a:ext cx="2636044" cy="7801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9063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animBg="1"/>
      <p:bldP spid="6" grpId="0" animBg="1"/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 designing for color deficiency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2E7B5A-947B-A3B0-01F4-9CCE2CEAEBF6}"/>
              </a:ext>
            </a:extLst>
          </p:cNvPr>
          <p:cNvSpPr txBox="1">
            <a:spLocks/>
          </p:cNvSpPr>
          <p:nvPr/>
        </p:nvSpPr>
        <p:spPr>
          <a:xfrm>
            <a:off x="838200" y="1962108"/>
            <a:ext cx="5591175" cy="38886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Many of our readers may have some form of color-vision deficiency (CVD) – i.e. be “color-blind”</a:t>
            </a:r>
          </a:p>
          <a:p>
            <a:pPr lvl="1"/>
            <a:r>
              <a:rPr lang="en-US">
                <a:cs typeface="Courier New" panose="02070309020205020404" pitchFamily="49" charset="0"/>
              </a:rPr>
              <a:t>Protanomoly – difficulty with red</a:t>
            </a:r>
          </a:p>
          <a:p>
            <a:pPr lvl="1"/>
            <a:r>
              <a:rPr lang="en-US">
                <a:cs typeface="Courier New" panose="02070309020205020404" pitchFamily="49" charset="0"/>
              </a:rPr>
              <a:t>Deuteranomoly –difficulty with green</a:t>
            </a:r>
          </a:p>
          <a:p>
            <a:pPr lvl="1"/>
            <a:r>
              <a:rPr lang="en-US">
                <a:cs typeface="Courier New" panose="02070309020205020404" pitchFamily="49" charset="0"/>
              </a:rPr>
              <a:t>Tritanomly – difficulty with blue</a:t>
            </a:r>
          </a:p>
          <a:p>
            <a:pPr lvl="1"/>
            <a:endParaRPr lang="en-US">
              <a:cs typeface="Courier New" panose="02070309020205020404" pitchFamily="49" charset="0"/>
            </a:endParaRPr>
          </a:p>
          <a:p>
            <a:r>
              <a:rPr lang="en-US">
                <a:cs typeface="Courier New" panose="02070309020205020404" pitchFamily="49" charset="0"/>
              </a:rPr>
              <a:t>Approx 8% males, 0.5% females</a:t>
            </a:r>
          </a:p>
          <a:p>
            <a:pPr lvl="1"/>
            <a:endParaRPr lang="en-US">
              <a:cs typeface="Courier New" panose="02070309020205020404" pitchFamily="49" charset="0"/>
            </a:endParaRPr>
          </a:p>
          <a:p>
            <a:endParaRPr lang="en-US"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CCE263-BCD8-3529-78CF-8FD219F5FC16}"/>
              </a:ext>
            </a:extLst>
          </p:cNvPr>
          <p:cNvSpPr txBox="1"/>
          <p:nvPr/>
        </p:nvSpPr>
        <p:spPr>
          <a:xfrm>
            <a:off x="7743824" y="4557712"/>
            <a:ext cx="3149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Problematic for red-green CVDs</a:t>
            </a:r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9AB663-F3C6-EE14-0894-9981B67EF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5" y="2708430"/>
            <a:ext cx="5597932" cy="16778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1E906A5-F831-8B05-FF7A-01D88EB3F004}"/>
              </a:ext>
            </a:extLst>
          </p:cNvPr>
          <p:cNvSpPr/>
          <p:nvPr/>
        </p:nvSpPr>
        <p:spPr>
          <a:xfrm>
            <a:off x="9384506" y="2820327"/>
            <a:ext cx="2636044" cy="7801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3603EF-0A12-EF24-ED37-925D72E00B89}"/>
              </a:ext>
            </a:extLst>
          </p:cNvPr>
          <p:cNvSpPr/>
          <p:nvPr/>
        </p:nvSpPr>
        <p:spPr>
          <a:xfrm>
            <a:off x="6588918" y="3584708"/>
            <a:ext cx="2636044" cy="7801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786891-4E3D-7F1D-C189-2EFC84FAE0D6}"/>
              </a:ext>
            </a:extLst>
          </p:cNvPr>
          <p:cNvSpPr/>
          <p:nvPr/>
        </p:nvSpPr>
        <p:spPr>
          <a:xfrm>
            <a:off x="9377749" y="3552077"/>
            <a:ext cx="2636044" cy="7801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0718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animBg="1"/>
      <p:bldP spid="4" grpId="0" animBg="1"/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 designing for color deficiency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2E7B5A-947B-A3B0-01F4-9CCE2CEAEBF6}"/>
              </a:ext>
            </a:extLst>
          </p:cNvPr>
          <p:cNvSpPr txBox="1">
            <a:spLocks/>
          </p:cNvSpPr>
          <p:nvPr/>
        </p:nvSpPr>
        <p:spPr>
          <a:xfrm>
            <a:off x="838200" y="1962108"/>
            <a:ext cx="5591175" cy="38886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Many of our readers may have some form of color-vision deficiency (CVD) – i.e. be “color-blind”</a:t>
            </a:r>
          </a:p>
          <a:p>
            <a:pPr lvl="1"/>
            <a:r>
              <a:rPr lang="en-US">
                <a:cs typeface="Courier New" panose="02070309020205020404" pitchFamily="49" charset="0"/>
              </a:rPr>
              <a:t>Protanomoly – difficulty with red</a:t>
            </a:r>
          </a:p>
          <a:p>
            <a:pPr lvl="1"/>
            <a:r>
              <a:rPr lang="en-US">
                <a:cs typeface="Courier New" panose="02070309020205020404" pitchFamily="49" charset="0"/>
              </a:rPr>
              <a:t>Deuteranomoly –difficulty with green</a:t>
            </a:r>
          </a:p>
          <a:p>
            <a:pPr lvl="1"/>
            <a:r>
              <a:rPr lang="en-US">
                <a:cs typeface="Courier New" panose="02070309020205020404" pitchFamily="49" charset="0"/>
              </a:rPr>
              <a:t>Tritanomly – difficulty with blue</a:t>
            </a:r>
          </a:p>
          <a:p>
            <a:pPr lvl="1"/>
            <a:endParaRPr lang="en-US">
              <a:cs typeface="Courier New" panose="02070309020205020404" pitchFamily="49" charset="0"/>
            </a:endParaRPr>
          </a:p>
          <a:p>
            <a:r>
              <a:rPr lang="en-US">
                <a:cs typeface="Courier New" panose="02070309020205020404" pitchFamily="49" charset="0"/>
              </a:rPr>
              <a:t>Approx 8% males, 0.5% females</a:t>
            </a:r>
          </a:p>
          <a:p>
            <a:pPr lvl="1"/>
            <a:endParaRPr lang="en-US">
              <a:cs typeface="Courier New" panose="02070309020205020404" pitchFamily="49" charset="0"/>
            </a:endParaRPr>
          </a:p>
          <a:p>
            <a:endParaRPr lang="en-US"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CCE263-BCD8-3529-78CF-8FD219F5FC16}"/>
              </a:ext>
            </a:extLst>
          </p:cNvPr>
          <p:cNvSpPr txBox="1"/>
          <p:nvPr/>
        </p:nvSpPr>
        <p:spPr>
          <a:xfrm>
            <a:off x="7743824" y="4557712"/>
            <a:ext cx="3316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Problematic for blue-yellow CVDs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85A99E-FC63-45C5-DED3-652547919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570" y="2743200"/>
            <a:ext cx="5516024" cy="159795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4068C92-C1DF-37B4-8F01-C221045ED98E}"/>
              </a:ext>
            </a:extLst>
          </p:cNvPr>
          <p:cNvSpPr/>
          <p:nvPr/>
        </p:nvSpPr>
        <p:spPr>
          <a:xfrm>
            <a:off x="9384506" y="2820327"/>
            <a:ext cx="2636044" cy="7801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D2763-8ED9-966E-DFE7-EAE0C0C5451F}"/>
              </a:ext>
            </a:extLst>
          </p:cNvPr>
          <p:cNvSpPr/>
          <p:nvPr/>
        </p:nvSpPr>
        <p:spPr>
          <a:xfrm>
            <a:off x="6588918" y="3584708"/>
            <a:ext cx="2636044" cy="7801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97E974-4734-396E-982D-9C867D136E41}"/>
              </a:ext>
            </a:extLst>
          </p:cNvPr>
          <p:cNvSpPr/>
          <p:nvPr/>
        </p:nvSpPr>
        <p:spPr>
          <a:xfrm>
            <a:off x="9377749" y="3552077"/>
            <a:ext cx="2636044" cy="7801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3443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animBg="1"/>
      <p:bldP spid="6" grpId="0" animBg="1"/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 designing for color deficiency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2E7B5A-947B-A3B0-01F4-9CCE2CEAEBF6}"/>
              </a:ext>
            </a:extLst>
          </p:cNvPr>
          <p:cNvSpPr txBox="1">
            <a:spLocks/>
          </p:cNvSpPr>
          <p:nvPr/>
        </p:nvSpPr>
        <p:spPr>
          <a:xfrm>
            <a:off x="838200" y="1962108"/>
            <a:ext cx="5591175" cy="42315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The ColorBrewer PiYG (pink to yellow-green) works for all kinds of CVD</a:t>
            </a:r>
          </a:p>
          <a:p>
            <a:endParaRPr lang="en-US">
              <a:cs typeface="Courier New" panose="02070309020205020404" pitchFamily="49" charset="0"/>
            </a:endParaRPr>
          </a:p>
          <a:p>
            <a:r>
              <a:rPr lang="en-US">
                <a:cs typeface="Courier New" panose="02070309020205020404" pitchFamily="49" charset="0"/>
              </a:rPr>
              <a:t>The reddish color is actually pink (a mix of red and blue)</a:t>
            </a:r>
          </a:p>
          <a:p>
            <a:endParaRPr lang="en-US">
              <a:cs typeface="Courier New" panose="02070309020205020404" pitchFamily="49" charset="0"/>
            </a:endParaRPr>
          </a:p>
          <a:p>
            <a:r>
              <a:rPr lang="en-US">
                <a:cs typeface="Courier New" panose="02070309020205020404" pitchFamily="49" charset="0"/>
              </a:rPr>
              <a:t>The greenish color also contains yellow</a:t>
            </a:r>
          </a:p>
          <a:p>
            <a:pPr lvl="1"/>
            <a:endParaRPr lang="en-US">
              <a:cs typeface="Courier New" panose="02070309020205020404" pitchFamily="49" charset="0"/>
            </a:endParaRPr>
          </a:p>
          <a:p>
            <a:endParaRPr lang="en-US"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CCE263-BCD8-3529-78CF-8FD219F5FC16}"/>
              </a:ext>
            </a:extLst>
          </p:cNvPr>
          <p:cNvSpPr txBox="1"/>
          <p:nvPr/>
        </p:nvSpPr>
        <p:spPr>
          <a:xfrm>
            <a:off x="8379617" y="4464844"/>
            <a:ext cx="1709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Safe for all CVDs</a:t>
            </a:r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DDB1A5-C8BB-2261-1583-B9B4BBD6A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296" y="2578894"/>
            <a:ext cx="5543073" cy="156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27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787D7-C871-8969-FCC7-4371943F6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id="{8182152F-E01C-B6E5-CDD7-F6A0901500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736" r="-1" b="-1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1E9B52-A97F-329B-E0EF-315D67398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>
                <a:solidFill>
                  <a:srgbClr val="FFFFFF"/>
                </a:solidFill>
                <a:latin typeface="Gameplay" panose="00000400000000000000" pitchFamily="2" charset="0"/>
              </a:rPr>
              <a:t>EXTRA STUFF</a:t>
            </a:r>
          </a:p>
        </p:txBody>
      </p:sp>
    </p:spTree>
    <p:extLst>
      <p:ext uri="{BB962C8B-B14F-4D97-AF65-F5344CB8AC3E}">
        <p14:creationId xmlns:p14="http://schemas.microsoft.com/office/powerpoint/2010/main" val="37734501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Functions</a:t>
            </a:r>
          </a:p>
        </p:txBody>
      </p:sp>
      <p:pic>
        <p:nvPicPr>
          <p:cNvPr id="9" name="Picture 8" descr="A picture containing text, indoor&#10;&#10;Description automatically generated">
            <a:extLst>
              <a:ext uri="{FF2B5EF4-FFF2-40B4-BE49-F238E27FC236}">
                <a16:creationId xmlns:a16="http://schemas.microsoft.com/office/drawing/2014/main" id="{C42A94BC-E946-D3BD-114A-3D82ED9716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428238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text, indoor&#10;&#10;Description automatically generated">
            <a:extLst>
              <a:ext uri="{FF2B5EF4-FFF2-40B4-BE49-F238E27FC236}">
                <a16:creationId xmlns:a16="http://schemas.microsoft.com/office/drawing/2014/main" id="{C42A94BC-E946-D3BD-114A-3D82ED9716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81CC4D-5C51-2BF9-E933-32FAF198F6D7}"/>
              </a:ext>
            </a:extLst>
          </p:cNvPr>
          <p:cNvSpPr txBox="1"/>
          <p:nvPr/>
        </p:nvSpPr>
        <p:spPr>
          <a:xfrm>
            <a:off x="851579" y="1633356"/>
            <a:ext cx="2518318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Boil water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Get cup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Put ingredients in cup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Pour water into cup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Boil water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Get cup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Put ingredients in cup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Pour water into cup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Boil water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Get cup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Put ingredients in cup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Pour water into cup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….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C4FC9D-5BE9-86FE-6498-B77940DFFC3B}"/>
              </a:ext>
            </a:extLst>
          </p:cNvPr>
          <p:cNvSpPr txBox="1"/>
          <p:nvPr/>
        </p:nvSpPr>
        <p:spPr>
          <a:xfrm>
            <a:off x="762626" y="802716"/>
            <a:ext cx="3746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The robot-in-a-diner analogy</a:t>
            </a: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765546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text, indoor&#10;&#10;Description automatically generated">
            <a:extLst>
              <a:ext uri="{FF2B5EF4-FFF2-40B4-BE49-F238E27FC236}">
                <a16:creationId xmlns:a16="http://schemas.microsoft.com/office/drawing/2014/main" id="{C42A94BC-E946-D3BD-114A-3D82ED9716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81CC4D-5C51-2BF9-E933-32FAF198F6D7}"/>
              </a:ext>
            </a:extLst>
          </p:cNvPr>
          <p:cNvSpPr txBox="1"/>
          <p:nvPr/>
        </p:nvSpPr>
        <p:spPr>
          <a:xfrm>
            <a:off x="851579" y="1633356"/>
            <a:ext cx="2518318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 Make Drink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Boil water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Get cup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Put ingredients in cup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Pour water into cup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/>
              <a:t>Make Drink </a:t>
            </a:r>
          </a:p>
          <a:p>
            <a:r>
              <a:rPr lang="en-US"/>
              <a:t>Make Drink</a:t>
            </a:r>
          </a:p>
          <a:p>
            <a:r>
              <a:rPr lang="en-US"/>
              <a:t>Make Drink </a:t>
            </a:r>
          </a:p>
          <a:p>
            <a:r>
              <a:rPr lang="en-US"/>
              <a:t>…</a:t>
            </a:r>
          </a:p>
          <a:p>
            <a:r>
              <a:rPr lang="en-US"/>
              <a:t>…</a:t>
            </a:r>
          </a:p>
          <a:p>
            <a:r>
              <a:rPr lang="en-US"/>
              <a:t>…</a:t>
            </a:r>
          </a:p>
          <a:p>
            <a:r>
              <a:rPr lang="en-US"/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C4FC9D-5BE9-86FE-6498-B77940DFFC3B}"/>
              </a:ext>
            </a:extLst>
          </p:cNvPr>
          <p:cNvSpPr txBox="1"/>
          <p:nvPr/>
        </p:nvSpPr>
        <p:spPr>
          <a:xfrm>
            <a:off x="762626" y="802716"/>
            <a:ext cx="3746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The robot-in-a-diner analogy</a:t>
            </a: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166749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text, indoor&#10;&#10;Description automatically generated">
            <a:extLst>
              <a:ext uri="{FF2B5EF4-FFF2-40B4-BE49-F238E27FC236}">
                <a16:creationId xmlns:a16="http://schemas.microsoft.com/office/drawing/2014/main" id="{C42A94BC-E946-D3BD-114A-3D82ED9716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81CC4D-5C51-2BF9-E933-32FAF198F6D7}"/>
              </a:ext>
            </a:extLst>
          </p:cNvPr>
          <p:cNvSpPr txBox="1"/>
          <p:nvPr/>
        </p:nvSpPr>
        <p:spPr>
          <a:xfrm>
            <a:off x="851579" y="1633356"/>
            <a:ext cx="251831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 Make Drink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Boil water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Get cup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Put ingredients in cup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Pour water into cup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C4FC9D-5BE9-86FE-6498-B77940DFFC3B}"/>
              </a:ext>
            </a:extLst>
          </p:cNvPr>
          <p:cNvSpPr txBox="1"/>
          <p:nvPr/>
        </p:nvSpPr>
        <p:spPr>
          <a:xfrm>
            <a:off x="762626" y="802716"/>
            <a:ext cx="3746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The robot-in-a-diner analogy</a:t>
            </a:r>
            <a:endParaRPr lang="en-GB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25B510-EFE9-B396-D0D8-82C77A0EA2A2}"/>
              </a:ext>
            </a:extLst>
          </p:cNvPr>
          <p:cNvSpPr txBox="1"/>
          <p:nvPr/>
        </p:nvSpPr>
        <p:spPr>
          <a:xfrm>
            <a:off x="851579" y="3991622"/>
            <a:ext cx="343235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def</a:t>
            </a:r>
            <a:r>
              <a:rPr lang="en-US">
                <a:latin typeface="Consolas" panose="020B0609020204030204" pitchFamily="49" charset="0"/>
              </a:rPr>
              <a:t> make_drink():</a:t>
            </a:r>
          </a:p>
          <a:p>
            <a:pPr lvl="1"/>
            <a:r>
              <a:rPr lang="en-US">
                <a:latin typeface="Consolas" panose="020B0609020204030204" pitchFamily="49" charset="0"/>
              </a:rPr>
              <a:t>boil_water</a:t>
            </a:r>
          </a:p>
          <a:p>
            <a:pPr lvl="1"/>
            <a:r>
              <a:rPr lang="en-US">
                <a:latin typeface="Consolas" panose="020B0609020204030204" pitchFamily="49" charset="0"/>
              </a:rPr>
              <a:t>get_cup</a:t>
            </a:r>
          </a:p>
          <a:p>
            <a:pPr lvl="1"/>
            <a:r>
              <a:rPr lang="en-US">
                <a:latin typeface="Consolas" panose="020B0609020204030204" pitchFamily="49" charset="0"/>
              </a:rPr>
              <a:t>put_ingredients_in_cup</a:t>
            </a:r>
          </a:p>
          <a:p>
            <a:pPr lvl="1"/>
            <a:r>
              <a:rPr lang="en-US">
                <a:latin typeface="Consolas" panose="020B0609020204030204" pitchFamily="49" charset="0"/>
              </a:rPr>
              <a:t>pour_water_into_cup</a:t>
            </a:r>
          </a:p>
          <a:p>
            <a:pPr lvl="1"/>
            <a:endParaRPr lang="en-US">
              <a:latin typeface="Consolas" panose="020B0609020204030204" pitchFamily="49" charset="0"/>
            </a:endParaRPr>
          </a:p>
          <a:p>
            <a:r>
              <a:rPr lang="en-US">
                <a:latin typeface="Consolas" panose="020B0609020204030204" pitchFamily="49" charset="0"/>
              </a:rPr>
              <a:t>make_drink()</a:t>
            </a:r>
          </a:p>
          <a:p>
            <a:r>
              <a:rPr lang="en-US">
                <a:latin typeface="Consolas" panose="020B0609020204030204" pitchFamily="49" charset="0"/>
              </a:rPr>
              <a:t>make_drink()</a:t>
            </a:r>
          </a:p>
          <a:p>
            <a:r>
              <a:rPr lang="en-US">
                <a:latin typeface="Consolas" panose="020B0609020204030204" pitchFamily="49" charset="0"/>
              </a:rPr>
              <a:t>make_drink()</a:t>
            </a:r>
          </a:p>
        </p:txBody>
      </p:sp>
    </p:spTree>
    <p:extLst>
      <p:ext uri="{BB962C8B-B14F-4D97-AF65-F5344CB8AC3E}">
        <p14:creationId xmlns:p14="http://schemas.microsoft.com/office/powerpoint/2010/main" val="3689867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text, indoor&#10;&#10;Description automatically generated">
            <a:extLst>
              <a:ext uri="{FF2B5EF4-FFF2-40B4-BE49-F238E27FC236}">
                <a16:creationId xmlns:a16="http://schemas.microsoft.com/office/drawing/2014/main" id="{C42A94BC-E946-D3BD-114A-3D82ED9716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81CC4D-5C51-2BF9-E933-32FAF198F6D7}"/>
              </a:ext>
            </a:extLst>
          </p:cNvPr>
          <p:cNvSpPr txBox="1"/>
          <p:nvPr/>
        </p:nvSpPr>
        <p:spPr>
          <a:xfrm>
            <a:off x="851579" y="1633356"/>
            <a:ext cx="378796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 Make Drink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highlight>
                  <a:srgbClr val="FFFF00"/>
                </a:highlight>
              </a:rPr>
              <a:t>Ask customer what drink they want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Boil water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Get cup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Put ingredients in cup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Pour water into cup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C4FC9D-5BE9-86FE-6498-B77940DFFC3B}"/>
              </a:ext>
            </a:extLst>
          </p:cNvPr>
          <p:cNvSpPr txBox="1"/>
          <p:nvPr/>
        </p:nvSpPr>
        <p:spPr>
          <a:xfrm>
            <a:off x="762626" y="802716"/>
            <a:ext cx="3746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The robot-in-a-diner analogy</a:t>
            </a:r>
            <a:endParaRPr lang="en-GB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25B510-EFE9-B396-D0D8-82C77A0EA2A2}"/>
              </a:ext>
            </a:extLst>
          </p:cNvPr>
          <p:cNvSpPr txBox="1"/>
          <p:nvPr/>
        </p:nvSpPr>
        <p:spPr>
          <a:xfrm>
            <a:off x="851579" y="3991622"/>
            <a:ext cx="4318811" cy="24878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def</a:t>
            </a:r>
            <a:r>
              <a:rPr lang="en-US">
                <a:latin typeface="Consolas" panose="020B0609020204030204" pitchFamily="49" charset="0"/>
              </a:rPr>
              <a:t> make_drink(</a:t>
            </a:r>
            <a:r>
              <a:rPr lang="en-US">
                <a:highlight>
                  <a:srgbClr val="FFFF00"/>
                </a:highlight>
                <a:latin typeface="Consolas" panose="020B0609020204030204" pitchFamily="49" charset="0"/>
              </a:rPr>
              <a:t>name_of_drink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pPr lvl="1">
              <a:spcAft>
                <a:spcPts val="200"/>
              </a:spcAft>
            </a:pPr>
            <a:r>
              <a:rPr lang="en-US">
                <a:latin typeface="Consolas" panose="020B0609020204030204" pitchFamily="49" charset="0"/>
              </a:rPr>
              <a:t>boil_water</a:t>
            </a:r>
          </a:p>
          <a:p>
            <a:pPr lvl="1">
              <a:spcAft>
                <a:spcPts val="200"/>
              </a:spcAft>
            </a:pPr>
            <a:r>
              <a:rPr lang="en-US">
                <a:latin typeface="Consolas" panose="020B0609020204030204" pitchFamily="49" charset="0"/>
              </a:rPr>
              <a:t>get_cup</a:t>
            </a:r>
          </a:p>
          <a:p>
            <a:pPr lvl="1">
              <a:spcAft>
                <a:spcPts val="200"/>
              </a:spcAft>
            </a:pPr>
            <a:r>
              <a:rPr lang="en-US">
                <a:latin typeface="Consolas" panose="020B0609020204030204" pitchFamily="49" charset="0"/>
              </a:rPr>
              <a:t>if name_of_drink == “coffee”:</a:t>
            </a:r>
          </a:p>
          <a:p>
            <a:pPr lvl="2">
              <a:spcAft>
                <a:spcPts val="200"/>
              </a:spcAft>
            </a:pPr>
            <a:r>
              <a:rPr lang="en-US">
                <a:latin typeface="Consolas" panose="020B0609020204030204" pitchFamily="49" charset="0"/>
              </a:rPr>
              <a:t>put_coffee_powder_in_cup</a:t>
            </a:r>
          </a:p>
          <a:p>
            <a:pPr lvl="1">
              <a:spcAft>
                <a:spcPts val="200"/>
              </a:spcAft>
            </a:pPr>
            <a:r>
              <a:rPr lang="en-US">
                <a:latin typeface="Consolas" panose="020B0609020204030204" pitchFamily="49" charset="0"/>
              </a:rPr>
              <a:t>elif name_of_drink == “tea”:</a:t>
            </a:r>
          </a:p>
          <a:p>
            <a:pPr lvl="2">
              <a:spcAft>
                <a:spcPts val="200"/>
              </a:spcAft>
            </a:pPr>
            <a:r>
              <a:rPr lang="en-US">
                <a:latin typeface="Consolas" panose="020B0609020204030204" pitchFamily="49" charset="0"/>
              </a:rPr>
              <a:t>put_tea_bag_in_cup</a:t>
            </a:r>
          </a:p>
          <a:p>
            <a:pPr lvl="1">
              <a:spcAft>
                <a:spcPts val="200"/>
              </a:spcAft>
            </a:pPr>
            <a:r>
              <a:rPr lang="en-US">
                <a:latin typeface="Consolas" panose="020B0609020204030204" pitchFamily="49" charset="0"/>
              </a:rPr>
              <a:t>pour_water_into_cup</a:t>
            </a:r>
          </a:p>
        </p:txBody>
      </p:sp>
    </p:spTree>
    <p:extLst>
      <p:ext uri="{BB962C8B-B14F-4D97-AF65-F5344CB8AC3E}">
        <p14:creationId xmlns:p14="http://schemas.microsoft.com/office/powerpoint/2010/main" val="1967465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text, indoor&#10;&#10;Description automatically generated">
            <a:extLst>
              <a:ext uri="{FF2B5EF4-FFF2-40B4-BE49-F238E27FC236}">
                <a16:creationId xmlns:a16="http://schemas.microsoft.com/office/drawing/2014/main" id="{C42A94BC-E946-D3BD-114A-3D82ED9716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81CC4D-5C51-2BF9-E933-32FAF198F6D7}"/>
              </a:ext>
            </a:extLst>
          </p:cNvPr>
          <p:cNvSpPr txBox="1"/>
          <p:nvPr/>
        </p:nvSpPr>
        <p:spPr>
          <a:xfrm>
            <a:off x="851579" y="1633356"/>
            <a:ext cx="378796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 Make Drink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Ask customer what drink they want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Boil water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Get cup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Put ingredients in cup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Pour water into cup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highlight>
                  <a:srgbClr val="FFFF00"/>
                </a:highlight>
              </a:rPr>
              <a:t>Give cup to customer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C4FC9D-5BE9-86FE-6498-B77940DFFC3B}"/>
              </a:ext>
            </a:extLst>
          </p:cNvPr>
          <p:cNvSpPr txBox="1"/>
          <p:nvPr/>
        </p:nvSpPr>
        <p:spPr>
          <a:xfrm>
            <a:off x="762626" y="802716"/>
            <a:ext cx="3746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The robot-in-a-diner analogy</a:t>
            </a:r>
            <a:endParaRPr lang="en-GB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25B510-EFE9-B396-D0D8-82C77A0EA2A2}"/>
              </a:ext>
            </a:extLst>
          </p:cNvPr>
          <p:cNvSpPr txBox="1"/>
          <p:nvPr/>
        </p:nvSpPr>
        <p:spPr>
          <a:xfrm>
            <a:off x="851579" y="3991622"/>
            <a:ext cx="4318811" cy="27905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def</a:t>
            </a:r>
            <a:r>
              <a:rPr lang="en-US">
                <a:latin typeface="Consolas" panose="020B0609020204030204" pitchFamily="49" charset="0"/>
              </a:rPr>
              <a:t> make_drink(name_of_drink):</a:t>
            </a:r>
          </a:p>
          <a:p>
            <a:pPr lvl="1">
              <a:spcAft>
                <a:spcPts val="200"/>
              </a:spcAft>
            </a:pPr>
            <a:r>
              <a:rPr lang="en-US">
                <a:latin typeface="Consolas" panose="020B0609020204030204" pitchFamily="49" charset="0"/>
              </a:rPr>
              <a:t>boil_water</a:t>
            </a:r>
          </a:p>
          <a:p>
            <a:pPr lvl="1">
              <a:spcAft>
                <a:spcPts val="200"/>
              </a:spcAft>
            </a:pPr>
            <a:r>
              <a:rPr lang="en-US">
                <a:latin typeface="Consolas" panose="020B0609020204030204" pitchFamily="49" charset="0"/>
              </a:rPr>
              <a:t>get_cup</a:t>
            </a:r>
          </a:p>
          <a:p>
            <a:pPr lvl="1">
              <a:spcAft>
                <a:spcPts val="200"/>
              </a:spcAft>
            </a:pPr>
            <a:r>
              <a:rPr lang="en-US">
                <a:latin typeface="Consolas" panose="020B0609020204030204" pitchFamily="49" charset="0"/>
              </a:rPr>
              <a:t>if name_of_drink == “coffee”:</a:t>
            </a:r>
          </a:p>
          <a:p>
            <a:pPr lvl="2">
              <a:spcAft>
                <a:spcPts val="200"/>
              </a:spcAft>
            </a:pPr>
            <a:r>
              <a:rPr lang="en-US">
                <a:latin typeface="Consolas" panose="020B0609020204030204" pitchFamily="49" charset="0"/>
              </a:rPr>
              <a:t>put_coffee_powder_in_cup</a:t>
            </a:r>
          </a:p>
          <a:p>
            <a:pPr lvl="1">
              <a:spcAft>
                <a:spcPts val="200"/>
              </a:spcAft>
            </a:pPr>
            <a:r>
              <a:rPr lang="en-US">
                <a:latin typeface="Consolas" panose="020B0609020204030204" pitchFamily="49" charset="0"/>
              </a:rPr>
              <a:t>elif name_of_drink == “tea”:</a:t>
            </a:r>
          </a:p>
          <a:p>
            <a:pPr lvl="2">
              <a:spcAft>
                <a:spcPts val="200"/>
              </a:spcAft>
            </a:pPr>
            <a:r>
              <a:rPr lang="en-US">
                <a:latin typeface="Consolas" panose="020B0609020204030204" pitchFamily="49" charset="0"/>
              </a:rPr>
              <a:t>put_tea_bag_in_cup</a:t>
            </a:r>
          </a:p>
          <a:p>
            <a:pPr lvl="1">
              <a:spcAft>
                <a:spcPts val="200"/>
              </a:spcAft>
            </a:pPr>
            <a:r>
              <a:rPr lang="en-US">
                <a:latin typeface="Consolas" panose="020B0609020204030204" pitchFamily="49" charset="0"/>
              </a:rPr>
              <a:t>pour_water_into_cup</a:t>
            </a:r>
          </a:p>
          <a:p>
            <a:pPr lvl="1">
              <a:spcAft>
                <a:spcPts val="200"/>
              </a:spcAft>
            </a:pPr>
            <a:r>
              <a:rPr lang="en-US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latin typeface="Consolas" panose="020B0609020204030204" pitchFamily="49" charset="0"/>
              </a:rPr>
              <a:t> </a:t>
            </a:r>
            <a:r>
              <a:rPr lang="en-US">
                <a:highlight>
                  <a:srgbClr val="FFFF00"/>
                </a:highlight>
                <a:latin typeface="Consolas" panose="020B0609020204030204" pitchFamily="49" charset="0"/>
              </a:rPr>
              <a:t>cup</a:t>
            </a:r>
          </a:p>
        </p:txBody>
      </p:sp>
    </p:spTree>
    <p:extLst>
      <p:ext uri="{BB962C8B-B14F-4D97-AF65-F5344CB8AC3E}">
        <p14:creationId xmlns:p14="http://schemas.microsoft.com/office/powerpoint/2010/main" val="2148528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text, indoor&#10;&#10;Description automatically generated">
            <a:extLst>
              <a:ext uri="{FF2B5EF4-FFF2-40B4-BE49-F238E27FC236}">
                <a16:creationId xmlns:a16="http://schemas.microsoft.com/office/drawing/2014/main" id="{C42A94BC-E946-D3BD-114A-3D82ED9716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C4FC9D-5BE9-86FE-6498-B77940DFFC3B}"/>
              </a:ext>
            </a:extLst>
          </p:cNvPr>
          <p:cNvSpPr txBox="1"/>
          <p:nvPr/>
        </p:nvSpPr>
        <p:spPr>
          <a:xfrm>
            <a:off x="762626" y="802716"/>
            <a:ext cx="3746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The robot-in-a-diner analogy</a:t>
            </a:r>
            <a:endParaRPr lang="en-GB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25B510-EFE9-B396-D0D8-82C77A0EA2A2}"/>
              </a:ext>
            </a:extLst>
          </p:cNvPr>
          <p:cNvSpPr txBox="1"/>
          <p:nvPr/>
        </p:nvSpPr>
        <p:spPr>
          <a:xfrm>
            <a:off x="704996" y="2442028"/>
            <a:ext cx="4490332" cy="36984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def</a:t>
            </a:r>
            <a:r>
              <a:rPr lang="en-US">
                <a:latin typeface="Consolas" panose="020B0609020204030204" pitchFamily="49" charset="0"/>
              </a:rPr>
              <a:t> make_drink(name_of_drink):</a:t>
            </a:r>
          </a:p>
          <a:p>
            <a:pPr lvl="1">
              <a:spcAft>
                <a:spcPts val="200"/>
              </a:spcAft>
            </a:pPr>
            <a:r>
              <a:rPr lang="en-US">
                <a:latin typeface="Consolas" panose="020B0609020204030204" pitchFamily="49" charset="0"/>
              </a:rPr>
              <a:t>boil_water</a:t>
            </a:r>
          </a:p>
          <a:p>
            <a:pPr lvl="1">
              <a:spcAft>
                <a:spcPts val="200"/>
              </a:spcAft>
            </a:pPr>
            <a:r>
              <a:rPr lang="en-US">
                <a:latin typeface="Consolas" panose="020B0609020204030204" pitchFamily="49" charset="0"/>
              </a:rPr>
              <a:t>get_cup</a:t>
            </a:r>
          </a:p>
          <a:p>
            <a:pPr lvl="1">
              <a:spcAft>
                <a:spcPts val="200"/>
              </a:spcAft>
            </a:pPr>
            <a:r>
              <a:rPr lang="en-US">
                <a:latin typeface="Consolas" panose="020B0609020204030204" pitchFamily="49" charset="0"/>
              </a:rPr>
              <a:t>if name_of_drink == “coffee”:</a:t>
            </a:r>
          </a:p>
          <a:p>
            <a:pPr lvl="2">
              <a:spcAft>
                <a:spcPts val="200"/>
              </a:spcAft>
            </a:pPr>
            <a:r>
              <a:rPr lang="en-US">
                <a:latin typeface="Consolas" panose="020B0609020204030204" pitchFamily="49" charset="0"/>
              </a:rPr>
              <a:t>put_coffee_powder_in_cup</a:t>
            </a:r>
          </a:p>
          <a:p>
            <a:pPr lvl="1">
              <a:spcAft>
                <a:spcPts val="200"/>
              </a:spcAft>
            </a:pPr>
            <a:r>
              <a:rPr lang="en-US">
                <a:latin typeface="Consolas" panose="020B0609020204030204" pitchFamily="49" charset="0"/>
              </a:rPr>
              <a:t>elif name_of_drink == “tea”:</a:t>
            </a:r>
          </a:p>
          <a:p>
            <a:pPr lvl="2">
              <a:spcAft>
                <a:spcPts val="200"/>
              </a:spcAft>
            </a:pPr>
            <a:r>
              <a:rPr lang="en-US">
                <a:latin typeface="Consolas" panose="020B0609020204030204" pitchFamily="49" charset="0"/>
              </a:rPr>
              <a:t>put_tea_bag_in_cup</a:t>
            </a:r>
          </a:p>
          <a:p>
            <a:pPr lvl="1">
              <a:spcAft>
                <a:spcPts val="200"/>
              </a:spcAft>
            </a:pPr>
            <a:r>
              <a:rPr lang="en-US">
                <a:latin typeface="Consolas" panose="020B0609020204030204" pitchFamily="49" charset="0"/>
              </a:rPr>
              <a:t>pour_water_into_cup</a:t>
            </a:r>
          </a:p>
          <a:p>
            <a:pPr lvl="1">
              <a:spcAft>
                <a:spcPts val="200"/>
              </a:spcAft>
            </a:pPr>
            <a:r>
              <a:rPr lang="en-US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latin typeface="Consolas" panose="020B0609020204030204" pitchFamily="49" charset="0"/>
              </a:rPr>
              <a:t> cup</a:t>
            </a:r>
          </a:p>
          <a:p>
            <a:pPr lvl="1">
              <a:spcAft>
                <a:spcPts val="200"/>
              </a:spcAft>
            </a:pPr>
            <a:endParaRPr lang="en-US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spcAft>
                <a:spcPts val="200"/>
              </a:spcAft>
            </a:pPr>
            <a:r>
              <a:rPr lang="en-US">
                <a:highlight>
                  <a:srgbClr val="FFFF00"/>
                </a:highlight>
                <a:latin typeface="Consolas" panose="020B0609020204030204" pitchFamily="49" charset="0"/>
              </a:rPr>
              <a:t>jaime_drink = make_drink(“tea”)</a:t>
            </a:r>
          </a:p>
          <a:p>
            <a:pPr>
              <a:spcAft>
                <a:spcPts val="200"/>
              </a:spcAft>
            </a:pPr>
            <a:r>
              <a:rPr lang="en-US">
                <a:highlight>
                  <a:srgbClr val="FFFF00"/>
                </a:highlight>
                <a:latin typeface="Consolas" panose="020B0609020204030204" pitchFamily="49" charset="0"/>
              </a:rPr>
              <a:t>eirik_drink = make_drink(“coffee”)</a:t>
            </a:r>
          </a:p>
        </p:txBody>
      </p:sp>
    </p:spTree>
    <p:extLst>
      <p:ext uri="{BB962C8B-B14F-4D97-AF65-F5344CB8AC3E}">
        <p14:creationId xmlns:p14="http://schemas.microsoft.com/office/powerpoint/2010/main" val="2802577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text, indoor&#10;&#10;Description automatically generated">
            <a:extLst>
              <a:ext uri="{FF2B5EF4-FFF2-40B4-BE49-F238E27FC236}">
                <a16:creationId xmlns:a16="http://schemas.microsoft.com/office/drawing/2014/main" id="{C42A94BC-E946-D3BD-114A-3D82ED9716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C4FC9D-5BE9-86FE-6498-B77940DFFC3B}"/>
              </a:ext>
            </a:extLst>
          </p:cNvPr>
          <p:cNvSpPr txBox="1"/>
          <p:nvPr/>
        </p:nvSpPr>
        <p:spPr>
          <a:xfrm>
            <a:off x="762626" y="802716"/>
            <a:ext cx="3746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The robot-in-a-diner analogy</a:t>
            </a:r>
            <a:endParaRPr lang="en-GB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25B510-EFE9-B396-D0D8-82C77A0EA2A2}"/>
              </a:ext>
            </a:extLst>
          </p:cNvPr>
          <p:cNvSpPr txBox="1"/>
          <p:nvPr/>
        </p:nvSpPr>
        <p:spPr>
          <a:xfrm>
            <a:off x="670096" y="1834755"/>
            <a:ext cx="4400564" cy="40010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def</a:t>
            </a:r>
            <a:r>
              <a:rPr lang="en-US">
                <a:latin typeface="Consolas" panose="020B0609020204030204" pitchFamily="49" charset="0"/>
              </a:rPr>
              <a:t> boil_water():</a:t>
            </a:r>
          </a:p>
          <a:p>
            <a:pPr lvl="1">
              <a:spcAft>
                <a:spcPts val="200"/>
              </a:spcAft>
            </a:pPr>
            <a:r>
              <a:rPr lang="en-US">
                <a:latin typeface="Consolas" panose="020B0609020204030204" pitchFamily="49" charset="0"/>
              </a:rPr>
              <a:t>fill_kettle_with_water</a:t>
            </a:r>
          </a:p>
          <a:p>
            <a:pPr lvl="1">
              <a:spcAft>
                <a:spcPts val="200"/>
              </a:spcAft>
            </a:pPr>
            <a:r>
              <a:rPr lang="en-US">
                <a:latin typeface="Consolas" panose="020B0609020204030204" pitchFamily="49" charset="0"/>
              </a:rPr>
              <a:t>turn_on_kettle</a:t>
            </a:r>
          </a:p>
          <a:p>
            <a:pPr>
              <a:spcAft>
                <a:spcPts val="200"/>
              </a:spcAft>
            </a:pPr>
            <a:endParaRPr lang="en-US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spcAft>
                <a:spcPts val="200"/>
              </a:spcAft>
            </a:pPr>
            <a:r>
              <a:rPr lang="en-US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def</a:t>
            </a:r>
            <a:r>
              <a:rPr lang="en-US">
                <a:latin typeface="Consolas" panose="020B0609020204030204" pitchFamily="49" charset="0"/>
              </a:rPr>
              <a:t> make_drink(name_of_drink):</a:t>
            </a:r>
          </a:p>
          <a:p>
            <a:pPr lvl="1">
              <a:spcAft>
                <a:spcPts val="200"/>
              </a:spcAft>
            </a:pPr>
            <a:r>
              <a:rPr lang="en-US">
                <a:latin typeface="Consolas" panose="020B0609020204030204" pitchFamily="49" charset="0"/>
              </a:rPr>
              <a:t>boil_water()</a:t>
            </a:r>
          </a:p>
          <a:p>
            <a:pPr lvl="1">
              <a:spcAft>
                <a:spcPts val="200"/>
              </a:spcAft>
            </a:pPr>
            <a:r>
              <a:rPr lang="en-US">
                <a:latin typeface="Consolas" panose="020B0609020204030204" pitchFamily="49" charset="0"/>
              </a:rPr>
              <a:t>get_cup</a:t>
            </a:r>
          </a:p>
          <a:p>
            <a:pPr lvl="1">
              <a:spcAft>
                <a:spcPts val="200"/>
              </a:spcAft>
            </a:pPr>
            <a:r>
              <a:rPr lang="en-US">
                <a:latin typeface="Consolas" panose="020B0609020204030204" pitchFamily="49" charset="0"/>
              </a:rPr>
              <a:t>if name_of_drink == “coffee”:</a:t>
            </a:r>
          </a:p>
          <a:p>
            <a:pPr lvl="2">
              <a:spcAft>
                <a:spcPts val="200"/>
              </a:spcAft>
            </a:pPr>
            <a:r>
              <a:rPr lang="en-US">
                <a:latin typeface="Consolas" panose="020B0609020204030204" pitchFamily="49" charset="0"/>
              </a:rPr>
              <a:t>put_coffee_powder_in_cup</a:t>
            </a:r>
          </a:p>
          <a:p>
            <a:pPr lvl="1">
              <a:spcAft>
                <a:spcPts val="200"/>
              </a:spcAft>
            </a:pPr>
            <a:r>
              <a:rPr lang="en-US">
                <a:latin typeface="Consolas" panose="020B0609020204030204" pitchFamily="49" charset="0"/>
              </a:rPr>
              <a:t>elif name_of_drink == “tea”:</a:t>
            </a:r>
          </a:p>
          <a:p>
            <a:pPr lvl="2">
              <a:spcAft>
                <a:spcPts val="200"/>
              </a:spcAft>
            </a:pPr>
            <a:r>
              <a:rPr lang="en-US">
                <a:latin typeface="Consolas" panose="020B0609020204030204" pitchFamily="49" charset="0"/>
              </a:rPr>
              <a:t>put_tea_bag_in_cup</a:t>
            </a:r>
          </a:p>
          <a:p>
            <a:pPr lvl="1">
              <a:spcAft>
                <a:spcPts val="200"/>
              </a:spcAft>
            </a:pPr>
            <a:r>
              <a:rPr lang="en-US">
                <a:latin typeface="Consolas" panose="020B0609020204030204" pitchFamily="49" charset="0"/>
              </a:rPr>
              <a:t>pour_water_into_cup</a:t>
            </a:r>
          </a:p>
          <a:p>
            <a:pPr lvl="1">
              <a:spcAft>
                <a:spcPts val="200"/>
              </a:spcAft>
            </a:pPr>
            <a:r>
              <a:rPr lang="en-US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latin typeface="Consolas" panose="020B0609020204030204" pitchFamily="49" charset="0"/>
              </a:rPr>
              <a:t> cup</a:t>
            </a:r>
          </a:p>
        </p:txBody>
      </p:sp>
    </p:spTree>
    <p:extLst>
      <p:ext uri="{BB962C8B-B14F-4D97-AF65-F5344CB8AC3E}">
        <p14:creationId xmlns:p14="http://schemas.microsoft.com/office/powerpoint/2010/main" val="115596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Functions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57EA8-CAF6-2D8C-9634-17C8AAFF1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95721"/>
            <a:ext cx="10515600" cy="1154902"/>
          </a:xfrm>
          <a:solidFill>
            <a:schemeClr val="bg2"/>
          </a:solidFill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 name_of_function():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i="1">
                <a:latin typeface="Consolas" panose="020B0609020204030204" pitchFamily="49" charset="0"/>
                <a:cs typeface="Courier New" panose="02070309020205020404" pitchFamily="49" charset="0"/>
              </a:rPr>
              <a:t>code_to_do_something</a:t>
            </a:r>
          </a:p>
          <a:p>
            <a:endParaRPr lang="en-GB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96F6C7-AE1D-11C4-9ED8-52E1FFC23933}"/>
              </a:ext>
            </a:extLst>
          </p:cNvPr>
          <p:cNvSpPr txBox="1">
            <a:spLocks/>
          </p:cNvSpPr>
          <p:nvPr/>
        </p:nvSpPr>
        <p:spPr>
          <a:xfrm>
            <a:off x="838200" y="1562390"/>
            <a:ext cx="10515600" cy="5805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Allow a set of instructions to be repeated easily.</a:t>
            </a:r>
            <a:endParaRPr lang="en-GB">
              <a:cs typeface="Courier New" panose="020703090202050204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A2D135-101B-A770-F2B6-0D2F6605B473}"/>
              </a:ext>
            </a:extLst>
          </p:cNvPr>
          <p:cNvSpPr txBox="1">
            <a:spLocks/>
          </p:cNvSpPr>
          <p:nvPr/>
        </p:nvSpPr>
        <p:spPr>
          <a:xfrm>
            <a:off x="838200" y="4330337"/>
            <a:ext cx="10515600" cy="208442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 say_hello():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	print(“Hello”)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>
                <a:latin typeface="Consolas" panose="020B0609020204030204" pitchFamily="49" charset="0"/>
                <a:cs typeface="Courier New" panose="02070309020205020404" pitchFamily="49" charset="0"/>
              </a:rPr>
              <a:t>say_hello()</a:t>
            </a:r>
          </a:p>
        </p:txBody>
      </p:sp>
    </p:spTree>
    <p:extLst>
      <p:ext uri="{BB962C8B-B14F-4D97-AF65-F5344CB8AC3E}">
        <p14:creationId xmlns:p14="http://schemas.microsoft.com/office/powerpoint/2010/main" val="428771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Functions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57EA8-CAF6-2D8C-9634-17C8AAFF1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95721"/>
            <a:ext cx="10515600" cy="1154902"/>
          </a:xfrm>
          <a:solidFill>
            <a:schemeClr val="bg2"/>
          </a:solidFill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 name_of_function(</a:t>
            </a:r>
            <a:r>
              <a:rPr lang="en-US" i="1">
                <a:highlight>
                  <a:srgbClr val="FFFF00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positional_arguments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i="1">
                <a:latin typeface="Consolas" panose="020B0609020204030204" pitchFamily="49" charset="0"/>
                <a:cs typeface="Courier New" panose="02070309020205020404" pitchFamily="49" charset="0"/>
              </a:rPr>
              <a:t>code_to_do_something_with_positional_args</a:t>
            </a:r>
          </a:p>
          <a:p>
            <a:endParaRPr lang="en-GB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96F6C7-AE1D-11C4-9ED8-52E1FFC23933}"/>
              </a:ext>
            </a:extLst>
          </p:cNvPr>
          <p:cNvSpPr txBox="1">
            <a:spLocks/>
          </p:cNvSpPr>
          <p:nvPr/>
        </p:nvSpPr>
        <p:spPr>
          <a:xfrm>
            <a:off x="838200" y="1562390"/>
            <a:ext cx="10515600" cy="5805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Allow a set of instructions to be repeated easily.</a:t>
            </a:r>
            <a:endParaRPr lang="en-GB">
              <a:cs typeface="Courier New" panose="020703090202050204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17CE879-9D3D-06C9-8A9D-F8C4D9DE208A}"/>
              </a:ext>
            </a:extLst>
          </p:cNvPr>
          <p:cNvSpPr txBox="1">
            <a:spLocks/>
          </p:cNvSpPr>
          <p:nvPr/>
        </p:nvSpPr>
        <p:spPr>
          <a:xfrm>
            <a:off x="838200" y="4330337"/>
            <a:ext cx="10515600" cy="208442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 say_hello(name):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	print(“Hello”, name)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>
                <a:latin typeface="Consolas" panose="020B0609020204030204" pitchFamily="49" charset="0"/>
                <a:cs typeface="Courier New" panose="02070309020205020404" pitchFamily="49" charset="0"/>
              </a:rPr>
              <a:t>say_hello(“Mo Salah”)</a:t>
            </a:r>
          </a:p>
        </p:txBody>
      </p:sp>
    </p:spTree>
    <p:extLst>
      <p:ext uri="{BB962C8B-B14F-4D97-AF65-F5344CB8AC3E}">
        <p14:creationId xmlns:p14="http://schemas.microsoft.com/office/powerpoint/2010/main" val="3436342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Functions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57EA8-CAF6-2D8C-9634-17C8AAFF1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95721"/>
            <a:ext cx="10515600" cy="1650490"/>
          </a:xfrm>
          <a:solidFill>
            <a:schemeClr val="bg2"/>
          </a:solidFill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 name_of_function(</a:t>
            </a:r>
            <a:r>
              <a:rPr lang="en-US" i="1">
                <a:latin typeface="Consolas" panose="020B0609020204030204" pitchFamily="49" charset="0"/>
                <a:cs typeface="Courier New" panose="02070309020205020404" pitchFamily="49" charset="0"/>
              </a:rPr>
              <a:t>positional_arguments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>
                <a:highlight>
                  <a:srgbClr val="FFFF00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item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en-US" i="1">
                <a:latin typeface="Consolas" panose="020B0609020204030204" pitchFamily="49" charset="0"/>
                <a:cs typeface="Courier New" panose="02070309020205020404" pitchFamily="49" charset="0"/>
              </a:rPr>
              <a:t>code_to_do_something_with_positional_args</a:t>
            </a:r>
          </a:p>
          <a:p>
            <a:pPr marL="0" indent="0">
              <a:buNone/>
            </a:pPr>
            <a:r>
              <a:rPr lang="en-US" i="1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>
                <a:highlight>
                  <a:srgbClr val="FFFF00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item</a:t>
            </a:r>
          </a:p>
          <a:p>
            <a:endParaRPr lang="en-GB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96F6C7-AE1D-11C4-9ED8-52E1FFC23933}"/>
              </a:ext>
            </a:extLst>
          </p:cNvPr>
          <p:cNvSpPr txBox="1">
            <a:spLocks/>
          </p:cNvSpPr>
          <p:nvPr/>
        </p:nvSpPr>
        <p:spPr>
          <a:xfrm>
            <a:off x="838200" y="1562390"/>
            <a:ext cx="10515600" cy="5805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Allow a set of instructions to be repeated easily.</a:t>
            </a:r>
            <a:endParaRPr lang="en-GB">
              <a:cs typeface="Courier New" panose="020703090202050204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A17A71-1B01-3A96-17B4-E7DC5600939E}"/>
              </a:ext>
            </a:extLst>
          </p:cNvPr>
          <p:cNvSpPr txBox="1">
            <a:spLocks/>
          </p:cNvSpPr>
          <p:nvPr/>
        </p:nvSpPr>
        <p:spPr>
          <a:xfrm>
            <a:off x="838200" y="4330337"/>
            <a:ext cx="10515600" cy="208442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 say_hello(name):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	greeting = “Hello ” + name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 greeting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>
                <a:latin typeface="Consolas" panose="020B0609020204030204" pitchFamily="49" charset="0"/>
                <a:cs typeface="Courier New" panose="02070309020205020404" pitchFamily="49" charset="0"/>
              </a:rPr>
              <a:t>hello_for_kev = say_hello(“Kevin”)</a:t>
            </a:r>
          </a:p>
          <a:p>
            <a:pPr marL="0" indent="0">
              <a:buNone/>
            </a:pPr>
            <a:r>
              <a:rPr lang="en-GB">
                <a:latin typeface="Consolas" panose="020B0609020204030204" pitchFamily="49" charset="0"/>
                <a:cs typeface="Courier New" panose="02070309020205020404" pitchFamily="49" charset="0"/>
              </a:rPr>
              <a:t>print(hello_for_kev)</a:t>
            </a:r>
          </a:p>
          <a:p>
            <a:pPr marL="0" indent="0">
              <a:buNone/>
            </a:pPr>
            <a:endParaRPr lang="en-GB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32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Functions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57EA8-CAF6-2D8C-9634-17C8AAFF1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95721"/>
            <a:ext cx="10515600" cy="1650490"/>
          </a:xfrm>
          <a:solidFill>
            <a:schemeClr val="bg2"/>
          </a:solidFill>
          <a:ln>
            <a:noFill/>
          </a:ln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 name_of_function(</a:t>
            </a:r>
            <a:r>
              <a:rPr lang="en-US" i="1">
                <a:latin typeface="Consolas" panose="020B0609020204030204" pitchFamily="49" charset="0"/>
                <a:cs typeface="Courier New" panose="02070309020205020404" pitchFamily="49" charset="0"/>
              </a:rPr>
              <a:t>pos_arguments, </a:t>
            </a:r>
            <a:r>
              <a:rPr lang="en-US" i="1">
                <a:highlight>
                  <a:srgbClr val="FFFF00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optional_args=…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	item = </a:t>
            </a:r>
            <a:r>
              <a:rPr lang="en-US" i="1">
                <a:latin typeface="Consolas" panose="020B0609020204030204" pitchFamily="49" charset="0"/>
                <a:cs typeface="Courier New" panose="02070309020205020404" pitchFamily="49" charset="0"/>
              </a:rPr>
              <a:t>code_to_do_something_with_args</a:t>
            </a:r>
          </a:p>
          <a:p>
            <a:pPr marL="0" indent="0">
              <a:buNone/>
            </a:pPr>
            <a:r>
              <a:rPr lang="en-US" i="1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 item</a:t>
            </a:r>
          </a:p>
          <a:p>
            <a:endParaRPr lang="en-GB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96F6C7-AE1D-11C4-9ED8-52E1FFC23933}"/>
              </a:ext>
            </a:extLst>
          </p:cNvPr>
          <p:cNvSpPr txBox="1">
            <a:spLocks/>
          </p:cNvSpPr>
          <p:nvPr/>
        </p:nvSpPr>
        <p:spPr>
          <a:xfrm>
            <a:off x="838200" y="1562390"/>
            <a:ext cx="10515600" cy="5805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Allow a set of instructions to be repeated easily.</a:t>
            </a:r>
            <a:endParaRPr lang="en-GB">
              <a:cs typeface="Courier New" panose="020703090202050204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A17A71-1B01-3A96-17B4-E7DC5600939E}"/>
              </a:ext>
            </a:extLst>
          </p:cNvPr>
          <p:cNvSpPr txBox="1">
            <a:spLocks/>
          </p:cNvSpPr>
          <p:nvPr/>
        </p:nvSpPr>
        <p:spPr>
          <a:xfrm>
            <a:off x="838200" y="4330337"/>
            <a:ext cx="10515600" cy="208442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 say_hello(name, language=“English”):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	if language == “English”: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		greeting = “Hello ” + name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	else: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		greeting = “God morgen ” + name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 greeting</a:t>
            </a:r>
          </a:p>
          <a:p>
            <a:pPr marL="0" indent="0">
              <a:buNone/>
            </a:pPr>
            <a:endParaRPr lang="en-GB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999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Functions – doc-strings</a:t>
            </a:r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96F6C7-AE1D-11C4-9ED8-52E1FFC23933}"/>
              </a:ext>
            </a:extLst>
          </p:cNvPr>
          <p:cNvSpPr txBox="1">
            <a:spLocks/>
          </p:cNvSpPr>
          <p:nvPr/>
        </p:nvSpPr>
        <p:spPr>
          <a:xfrm>
            <a:off x="838200" y="1562388"/>
            <a:ext cx="10515600" cy="40147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en-US">
                <a:cs typeface="Courier New" panose="02070309020205020404" pitchFamily="49" charset="0"/>
              </a:rPr>
              <a:t>Doc-strings provide users (including yourself!) with information about how to use the function</a:t>
            </a:r>
          </a:p>
          <a:p>
            <a:pPr>
              <a:spcAft>
                <a:spcPts val="1200"/>
              </a:spcAft>
            </a:pPr>
            <a:r>
              <a:rPr lang="en-US">
                <a:cs typeface="Courier New" panose="02070309020205020404" pitchFamily="49" charset="0"/>
              </a:rPr>
              <a:t>There are different styles of writing them – e.g. Google-style, Numpy-style, and rest-style</a:t>
            </a:r>
          </a:p>
          <a:p>
            <a:pPr>
              <a:spcAft>
                <a:spcPts val="1200"/>
              </a:spcAft>
            </a:pPr>
            <a:r>
              <a:rPr lang="en-US">
                <a:cs typeface="Courier New" panose="02070309020205020404" pitchFamily="49" charset="0"/>
              </a:rPr>
              <a:t>Read the associated page(s) in the Good Research Code Handbook.</a:t>
            </a:r>
          </a:p>
          <a:p>
            <a:pPr>
              <a:spcAft>
                <a:spcPts val="1200"/>
              </a:spcAft>
            </a:pPr>
            <a:r>
              <a:rPr lang="en-US">
                <a:cs typeface="Courier New" panose="02070309020205020404" pitchFamily="49" charset="0"/>
              </a:rPr>
              <a:t>Good doc-strings make producing documentation for your code a lot simpler.</a:t>
            </a:r>
          </a:p>
          <a:p>
            <a:pPr>
              <a:spcAft>
                <a:spcPts val="1200"/>
              </a:spcAft>
            </a:pPr>
            <a:endParaRPr lang="en-GB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6493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Functions – doc strings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E65B91B-E4D5-338A-634A-4810F6480A6B}"/>
              </a:ext>
            </a:extLst>
          </p:cNvPr>
          <p:cNvSpPr txBox="1">
            <a:spLocks/>
          </p:cNvSpPr>
          <p:nvPr/>
        </p:nvSpPr>
        <p:spPr>
          <a:xfrm>
            <a:off x="838200" y="1771127"/>
            <a:ext cx="10515600" cy="44761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 say_hello(name):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i="1">
                <a:solidFill>
                  <a:schemeClr val="accent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“””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i="1">
                <a:solidFill>
                  <a:schemeClr val="accent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This is a function for making greetings for different people.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i="1">
              <a:solidFill>
                <a:schemeClr val="accent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i="1">
                <a:solidFill>
                  <a:schemeClr val="accent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Arguments: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i="1">
                <a:solidFill>
                  <a:schemeClr val="accent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name (str): the name of the person to greet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i="1">
                <a:solidFill>
                  <a:schemeClr val="accent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Returns: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i="1">
                <a:solidFill>
                  <a:schemeClr val="accent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str: the greeting for the named person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i="1">
                <a:solidFill>
                  <a:schemeClr val="accent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“””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	greeting = “Hello ” + name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 greeting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5488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A5676-24B7-7855-30C9-96C1EBA2F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4310F-73F3-A0E1-D82A-F83E8F2C0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2660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2526</Words>
  <Application>Microsoft Office PowerPoint</Application>
  <PresentationFormat>Widescreen</PresentationFormat>
  <Paragraphs>402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1" baseType="lpstr">
      <vt:lpstr>Gameplay</vt:lpstr>
      <vt:lpstr>Arial</vt:lpstr>
      <vt:lpstr>Consolas</vt:lpstr>
      <vt:lpstr>Wingdings</vt:lpstr>
      <vt:lpstr>Courier New</vt:lpstr>
      <vt:lpstr>Calibri</vt:lpstr>
      <vt:lpstr>Calibri Light</vt:lpstr>
      <vt:lpstr>Office Theme</vt:lpstr>
      <vt:lpstr>Programming and Data Visualization for Researchers [HEL-8048 / PSY-3035] </vt:lpstr>
      <vt:lpstr>Introduction to data visualisation</vt:lpstr>
      <vt:lpstr>Important foundations</vt:lpstr>
      <vt:lpstr>Ugly, bad and wrong figures </vt:lpstr>
      <vt:lpstr>Aesthetics and data types</vt:lpstr>
      <vt:lpstr>Coordinate systems and axes</vt:lpstr>
      <vt:lpstr>Coordinate systems and axes</vt:lpstr>
      <vt:lpstr>Coordinate systems and axes</vt:lpstr>
      <vt:lpstr>Non-linear axes</vt:lpstr>
      <vt:lpstr>PowerPoint Presentation</vt:lpstr>
      <vt:lpstr>Non-linear axes</vt:lpstr>
      <vt:lpstr>Non-linear axes</vt:lpstr>
      <vt:lpstr>Non-linear axes</vt:lpstr>
      <vt:lpstr>Non-linear axes</vt:lpstr>
      <vt:lpstr>Non-linear axes</vt:lpstr>
      <vt:lpstr>Non-linear axes</vt:lpstr>
      <vt:lpstr>Non-linear axes</vt:lpstr>
      <vt:lpstr>COFFEE TIME</vt:lpstr>
      <vt:lpstr>Your projects (the “exam”)</vt:lpstr>
      <vt:lpstr>Your projects (the “exam”)</vt:lpstr>
      <vt:lpstr>Color</vt:lpstr>
      <vt:lpstr>Color as a tool to distinguish</vt:lpstr>
      <vt:lpstr>Color as a tool to distinguish</vt:lpstr>
      <vt:lpstr>Color to represent data values</vt:lpstr>
      <vt:lpstr>Color to represent data values</vt:lpstr>
      <vt:lpstr>Color to represent data values</vt:lpstr>
      <vt:lpstr>Color to represent data values</vt:lpstr>
      <vt:lpstr>Color as a tool to highlight</vt:lpstr>
      <vt:lpstr>Color as a tool to highlight</vt:lpstr>
      <vt:lpstr>Encoding too much or irrelevant information</vt:lpstr>
      <vt:lpstr>Encoding too much or irrelevant information</vt:lpstr>
      <vt:lpstr>Non-monotonic color scales to encode data</vt:lpstr>
      <vt:lpstr>Non-monotonic color scales to encode data</vt:lpstr>
      <vt:lpstr>Not designing for color deficiency</vt:lpstr>
      <vt:lpstr>Not designing for color deficiency</vt:lpstr>
      <vt:lpstr>Not designing for color deficiency</vt:lpstr>
      <vt:lpstr>Not designing for color deficiency</vt:lpstr>
      <vt:lpstr>EXTRA STUFF</vt:lpstr>
      <vt:lpstr>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Functions</vt:lpstr>
      <vt:lpstr>Functions</vt:lpstr>
      <vt:lpstr>Functions</vt:lpstr>
      <vt:lpstr>Functions</vt:lpstr>
      <vt:lpstr>Functions – doc-strings</vt:lpstr>
      <vt:lpstr>Functions – doc strings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and Data Visualization for Researchers [PSY-3035] </dc:title>
  <dc:creator>James Edgar McCutcheon</dc:creator>
  <cp:lastModifiedBy>James Edgar McCutcheon</cp:lastModifiedBy>
  <cp:revision>6</cp:revision>
  <dcterms:created xsi:type="dcterms:W3CDTF">2023-01-26T07:34:03Z</dcterms:created>
  <dcterms:modified xsi:type="dcterms:W3CDTF">2026-09-22T07:20:40Z</dcterms:modified>
</cp:coreProperties>
</file>